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8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AFD7A-F1C7-4D3C-8A9D-9DCDA509C5BD}" type="datetimeFigureOut">
              <a:rPr lang="it-IT" smtClean="0"/>
              <a:t>28/10/2024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A55F1-F56C-419A-A44F-3A2C493FD6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006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A55F1-F56C-419A-A44F-3A2C493FD6E1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2903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10/28/2024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10/28/2024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10558B7F-A413-21F5-2BCB-379D4A5CF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0206" y="4498437"/>
            <a:ext cx="2251587" cy="400705"/>
          </a:xfrm>
        </p:spPr>
        <p:txBody>
          <a:bodyPr>
            <a:normAutofit fontScale="92500"/>
          </a:bodyPr>
          <a:lstStyle/>
          <a:p>
            <a:r>
              <a:rPr lang="it-IT" sz="1600" dirty="0">
                <a:latin typeface="Abadi" panose="020B0604020104020204" pitchFamily="34" charset="0"/>
              </a:rPr>
              <a:t>29 ottobre 2024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6AB9A84B-34F6-EB1E-F335-A105E3711312}"/>
              </a:ext>
            </a:extLst>
          </p:cNvPr>
          <p:cNvSpPr/>
          <p:nvPr/>
        </p:nvSpPr>
        <p:spPr>
          <a:xfrm>
            <a:off x="1543663" y="569356"/>
            <a:ext cx="9104671" cy="168065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glow>
              <a:schemeClr val="accent1">
                <a:alpha val="40000"/>
              </a:schemeClr>
            </a:glow>
            <a:outerShdw blurRad="50800" dist="50800" dir="5400000" algn="ctr" rotWithShape="0">
              <a:srgbClr val="000000">
                <a:alpha val="81000"/>
              </a:srgbClr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Abadi" panose="020B0604020104020204" pitchFamily="34" charset="0"/>
              </a:rPr>
              <a:t>Implementation of Non-Standard Digital Signature Method in Vehicle-to-Everything Environments</a:t>
            </a:r>
            <a:endParaRPr lang="it-IT" sz="3600" dirty="0">
              <a:latin typeface="Abadi" panose="020B0604020104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9049C26-C5A8-4828-0919-E2A79568F02A}"/>
              </a:ext>
            </a:extLst>
          </p:cNvPr>
          <p:cNvSpPr txBox="1"/>
          <p:nvPr/>
        </p:nvSpPr>
        <p:spPr>
          <a:xfrm>
            <a:off x="2054942" y="2434715"/>
            <a:ext cx="2792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badi" panose="020B0604020104020204" pitchFamily="34" charset="0"/>
              </a:rPr>
              <a:t>Relatore: </a:t>
            </a:r>
          </a:p>
          <a:p>
            <a:pPr algn="ctr"/>
            <a:r>
              <a:rPr lang="it-IT" dirty="0">
                <a:latin typeface="Abadi" panose="020B0604020104020204" pitchFamily="34" charset="0"/>
              </a:rPr>
              <a:t>Prof. Fulvio VALENZA </a:t>
            </a:r>
          </a:p>
          <a:p>
            <a:pPr algn="ctr"/>
            <a:r>
              <a:rPr lang="it-IT" dirty="0">
                <a:latin typeface="Abadi" panose="020B0604020104020204" pitchFamily="34" charset="0"/>
              </a:rPr>
              <a:t>   Correlatore:	</a:t>
            </a:r>
          </a:p>
          <a:p>
            <a:pPr algn="ctr"/>
            <a:r>
              <a:rPr lang="it-IT" dirty="0">
                <a:latin typeface="Abadi" panose="020B0604020104020204" pitchFamily="34" charset="0"/>
              </a:rPr>
              <a:t>Ing. Leonardo DE CANDIA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9040CEF-F642-DC94-94EF-32F1A80744BB}"/>
              </a:ext>
            </a:extLst>
          </p:cNvPr>
          <p:cNvSpPr txBox="1"/>
          <p:nvPr/>
        </p:nvSpPr>
        <p:spPr>
          <a:xfrm>
            <a:off x="7344698" y="2573214"/>
            <a:ext cx="2969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badi" panose="020B0604020104020204" pitchFamily="34" charset="0"/>
              </a:rPr>
              <a:t>Tesi di laurea magistrale di:</a:t>
            </a:r>
          </a:p>
          <a:p>
            <a:pPr algn="ctr"/>
            <a:r>
              <a:rPr lang="it-IT" dirty="0">
                <a:latin typeface="Abadi" panose="020B0604020104020204" pitchFamily="34" charset="0"/>
              </a:rPr>
              <a:t>Matteo PEDONE</a:t>
            </a:r>
          </a:p>
          <a:p>
            <a:pPr algn="ctr"/>
            <a:endParaRPr lang="it-IT" dirty="0">
              <a:latin typeface="Abadi" panose="020B0604020104020204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822FBFC-E9C7-AED7-1B25-8FF75FD51B41}"/>
              </a:ext>
            </a:extLst>
          </p:cNvPr>
          <p:cNvSpPr txBox="1"/>
          <p:nvPr/>
        </p:nvSpPr>
        <p:spPr>
          <a:xfrm>
            <a:off x="2875936" y="3753317"/>
            <a:ext cx="6440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latin typeface="Abadi" panose="020B0604020104020204" pitchFamily="34" charset="0"/>
              </a:rPr>
              <a:t>Politecnico di Torino</a:t>
            </a:r>
          </a:p>
          <a:p>
            <a:pPr algn="ctr"/>
            <a:r>
              <a:rPr lang="it-IT" sz="1600" b="0" i="0" dirty="0">
                <a:effectLst/>
                <a:latin typeface="Abadi" panose="020B0604020104020204" pitchFamily="34" charset="0"/>
              </a:rPr>
              <a:t> Laurea Magistrale in Ingegneria Informatica (Computer Engineering)</a:t>
            </a:r>
            <a:endParaRPr lang="it-IT" sz="1600" dirty="0">
              <a:latin typeface="Abadi" panose="020B060402010402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FE3FC18-3DE3-54A3-5C7E-765621D6E67D}"/>
              </a:ext>
            </a:extLst>
          </p:cNvPr>
          <p:cNvSpPr txBox="1"/>
          <p:nvPr/>
        </p:nvSpPr>
        <p:spPr>
          <a:xfrm>
            <a:off x="749709" y="6439508"/>
            <a:ext cx="109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Matteo Pedone														 29 Ottobre 2024		 1/14</a:t>
            </a:r>
          </a:p>
        </p:txBody>
      </p:sp>
      <p:pic>
        <p:nvPicPr>
          <p:cNvPr id="6" name="Immagine 5" descr="Immagine che contiene Carattere, testo, schermata, Elementi grafici&#10;&#10;Descrizione generata automaticamente">
            <a:extLst>
              <a:ext uri="{FF2B5EF4-FFF2-40B4-BE49-F238E27FC236}">
                <a16:creationId xmlns:a16="http://schemas.microsoft.com/office/drawing/2014/main" id="{6A0EC8B1-F05A-FBAD-3B61-925002A20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364" y="5268560"/>
            <a:ext cx="2433338" cy="448177"/>
          </a:xfrm>
          <a:prstGeom prst="rect">
            <a:avLst/>
          </a:prstGeom>
        </p:spPr>
      </p:pic>
      <p:pic>
        <p:nvPicPr>
          <p:cNvPr id="13" name="Immagine 12" descr="Immagine che contiene testo, logo, Carattere, Elementi grafici&#10;&#10;Descrizione generata automaticamente">
            <a:extLst>
              <a:ext uri="{FF2B5EF4-FFF2-40B4-BE49-F238E27FC236}">
                <a16:creationId xmlns:a16="http://schemas.microsoft.com/office/drawing/2014/main" id="{6A8CC3B1-A6E0-45BE-C3E3-7E3EF4F680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97" t="23083" r="6495" b="22724"/>
          <a:stretch/>
        </p:blipFill>
        <p:spPr>
          <a:xfrm>
            <a:off x="2728303" y="4899142"/>
            <a:ext cx="2694335" cy="118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04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D465D7-3248-36FA-4034-CD11BE79B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accent2"/>
                </a:solidFill>
                <a:latin typeface="Abadi" panose="020B0604020104020204" pitchFamily="34" charset="0"/>
              </a:rPr>
              <a:t>Contesto – V2X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6C1C914-FFC0-C7E3-5FAF-FE8CF8D7F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06609"/>
            <a:ext cx="5085896" cy="3470859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E1BD82C-273D-21D7-3CEB-DAD9AAE3C905}"/>
              </a:ext>
            </a:extLst>
          </p:cNvPr>
          <p:cNvSpPr txBox="1"/>
          <p:nvPr/>
        </p:nvSpPr>
        <p:spPr>
          <a:xfrm>
            <a:off x="1097277" y="2614983"/>
            <a:ext cx="4821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Per lo standard europeo, V2X si basa su Public Key </a:t>
            </a:r>
            <a:r>
              <a:rPr lang="it-IT" dirty="0" err="1">
                <a:latin typeface="Abadi" panose="020B0604020104020204" pitchFamily="34" charset="0"/>
              </a:rPr>
              <a:t>Infrastructure</a:t>
            </a:r>
            <a:r>
              <a:rPr lang="it-IT" dirty="0">
                <a:latin typeface="Abadi" panose="020B0604020104020204" pitchFamily="34" charset="0"/>
              </a:rPr>
              <a:t> (PKI), definita in ETSI TS 102 940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F12CF5D-24DC-4DB3-FA7B-0F283CEBBFE8}"/>
              </a:ext>
            </a:extLst>
          </p:cNvPr>
          <p:cNvSpPr txBox="1"/>
          <p:nvPr/>
        </p:nvSpPr>
        <p:spPr>
          <a:xfrm>
            <a:off x="1097278" y="1849896"/>
            <a:ext cx="101150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b="1" dirty="0" err="1">
                <a:solidFill>
                  <a:schemeClr val="accent2"/>
                </a:solidFill>
                <a:latin typeface="Abadi" panose="020B0604020104020204" pitchFamily="34" charset="0"/>
              </a:rPr>
              <a:t>V</a:t>
            </a:r>
            <a:r>
              <a:rPr lang="it-IT" sz="1800" b="1" dirty="0" err="1">
                <a:solidFill>
                  <a:schemeClr val="accent2"/>
                </a:solidFill>
                <a:latin typeface="Abadi" panose="020B0604020104020204" pitchFamily="34" charset="0"/>
              </a:rPr>
              <a:t>ehicle</a:t>
            </a:r>
            <a:r>
              <a:rPr lang="it-IT" sz="1800" b="1" dirty="0">
                <a:solidFill>
                  <a:schemeClr val="accent2"/>
                </a:solidFill>
                <a:latin typeface="Abadi" panose="020B0604020104020204" pitchFamily="34" charset="0"/>
              </a:rPr>
              <a:t> - To - </a:t>
            </a:r>
            <a:r>
              <a:rPr lang="it-IT" sz="1800" b="1" dirty="0" err="1">
                <a:solidFill>
                  <a:schemeClr val="accent2"/>
                </a:solidFill>
                <a:latin typeface="Abadi" panose="020B0604020104020204" pitchFamily="34" charset="0"/>
              </a:rPr>
              <a:t>Everything</a:t>
            </a:r>
            <a:r>
              <a:rPr lang="it-IT" sz="1800" b="1" dirty="0">
                <a:solidFill>
                  <a:schemeClr val="accent2"/>
                </a:solidFill>
                <a:latin typeface="Abadi" panose="020B0604020104020204" pitchFamily="34" charset="0"/>
              </a:rPr>
              <a:t> </a:t>
            </a:r>
            <a:r>
              <a:rPr lang="it-IT" sz="1800" dirty="0">
                <a:latin typeface="Abadi" panose="020B0604020104020204" pitchFamily="34" charset="0"/>
              </a:rPr>
              <a:t>(</a:t>
            </a:r>
            <a:r>
              <a:rPr lang="it-IT" sz="1800" b="1" dirty="0">
                <a:solidFill>
                  <a:schemeClr val="accent2"/>
                </a:solidFill>
                <a:latin typeface="Abadi" panose="020B0604020104020204" pitchFamily="34" charset="0"/>
              </a:rPr>
              <a:t>V2X</a:t>
            </a:r>
            <a:r>
              <a:rPr lang="it-IT" sz="1800" dirty="0">
                <a:latin typeface="Abadi" panose="020B0604020104020204" pitchFamily="34" charset="0"/>
              </a:rPr>
              <a:t>)</a:t>
            </a:r>
            <a:r>
              <a:rPr lang="it-IT" sz="1800" b="1" dirty="0">
                <a:solidFill>
                  <a:schemeClr val="accent2"/>
                </a:solidFill>
                <a:latin typeface="Abadi" panose="020B0604020104020204" pitchFamily="34" charset="0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Abadi" panose="020B0604020104020204" pitchFamily="34" charset="0"/>
              </a:rPr>
              <a:t>è una comunicazione </a:t>
            </a:r>
            <a:r>
              <a:rPr lang="it-IT" sz="1800" dirty="0" err="1">
                <a:solidFill>
                  <a:schemeClr val="tx1"/>
                </a:solidFill>
                <a:latin typeface="Abadi" panose="020B0604020104020204" pitchFamily="34" charset="0"/>
              </a:rPr>
              <a:t>node</a:t>
            </a:r>
            <a:r>
              <a:rPr lang="it-IT" sz="1800" dirty="0">
                <a:solidFill>
                  <a:schemeClr val="tx1"/>
                </a:solidFill>
                <a:latin typeface="Abadi" panose="020B0604020104020204" pitchFamily="34" charset="0"/>
              </a:rPr>
              <a:t>-to-</a:t>
            </a:r>
            <a:r>
              <a:rPr lang="it-IT" sz="1800" dirty="0" err="1">
                <a:solidFill>
                  <a:schemeClr val="tx1"/>
                </a:solidFill>
                <a:latin typeface="Abadi" panose="020B0604020104020204" pitchFamily="34" charset="0"/>
              </a:rPr>
              <a:t>node</a:t>
            </a:r>
            <a:r>
              <a:rPr lang="it-IT" sz="1800" dirty="0">
                <a:solidFill>
                  <a:schemeClr val="tx1"/>
                </a:solidFill>
                <a:latin typeface="Abadi" panose="020B0604020104020204" pitchFamily="34" charset="0"/>
              </a:rPr>
              <a:t> che permette l’interscambio di informazioni tra veicoli, infrastrutture e utenti della strada in un breve lasso di tempo</a:t>
            </a:r>
          </a:p>
          <a:p>
            <a:pPr algn="just"/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E5ED8E0-B83E-3985-D474-2823D134D2B1}"/>
              </a:ext>
            </a:extLst>
          </p:cNvPr>
          <p:cNvSpPr txBox="1"/>
          <p:nvPr/>
        </p:nvSpPr>
        <p:spPr>
          <a:xfrm>
            <a:off x="1097278" y="3626769"/>
            <a:ext cx="48217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Per i processi di </a:t>
            </a:r>
            <a:r>
              <a:rPr lang="it-IT" dirty="0" err="1">
                <a:latin typeface="Abadi" panose="020B0604020104020204" pitchFamily="34" charset="0"/>
              </a:rPr>
              <a:t>encryption</a:t>
            </a:r>
            <a:r>
              <a:rPr lang="it-IT" dirty="0">
                <a:latin typeface="Abadi" panose="020B0604020104020204" pitchFamily="34" charset="0"/>
              </a:rPr>
              <a:t> e firma digitale, V2X usa algoritmi a curva ellittica, come definito in ETSI TS 103 097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B0D0C92-9505-E8ED-5F20-428B77884763}"/>
              </a:ext>
            </a:extLst>
          </p:cNvPr>
          <p:cNvSpPr txBox="1"/>
          <p:nvPr/>
        </p:nvSpPr>
        <p:spPr>
          <a:xfrm>
            <a:off x="1097278" y="4662635"/>
            <a:ext cx="48217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Il set di messaggi comprende: </a:t>
            </a:r>
            <a:r>
              <a:rPr lang="it-IT" b="1" dirty="0">
                <a:latin typeface="Abadi" panose="020B0604020104020204" pitchFamily="34" charset="0"/>
              </a:rPr>
              <a:t>CAM</a:t>
            </a:r>
            <a:r>
              <a:rPr lang="it-IT" dirty="0">
                <a:latin typeface="Abadi" panose="020B0604020104020204" pitchFamily="34" charset="0"/>
              </a:rPr>
              <a:t> (Cooperative </a:t>
            </a:r>
            <a:r>
              <a:rPr lang="it-IT" dirty="0" err="1">
                <a:latin typeface="Abadi" panose="020B0604020104020204" pitchFamily="34" charset="0"/>
              </a:rPr>
              <a:t>Awareness</a:t>
            </a:r>
            <a:r>
              <a:rPr lang="it-IT" dirty="0">
                <a:latin typeface="Abadi" panose="020B0604020104020204" pitchFamily="34" charset="0"/>
              </a:rPr>
              <a:t> Message), DENM    ( </a:t>
            </a:r>
            <a:r>
              <a:rPr lang="it-IT" dirty="0" err="1">
                <a:latin typeface="Abadi" panose="020B0604020104020204" pitchFamily="34" charset="0"/>
              </a:rPr>
              <a:t>Decentralised</a:t>
            </a:r>
            <a:r>
              <a:rPr lang="it-IT" dirty="0">
                <a:latin typeface="Abadi" panose="020B0604020104020204" pitchFamily="34" charset="0"/>
              </a:rPr>
              <a:t> </a:t>
            </a:r>
            <a:r>
              <a:rPr lang="it-IT" dirty="0" err="1">
                <a:latin typeface="Abadi" panose="020B0604020104020204" pitchFamily="34" charset="0"/>
              </a:rPr>
              <a:t>Environmental</a:t>
            </a:r>
            <a:r>
              <a:rPr lang="it-IT" dirty="0">
                <a:latin typeface="Abadi" panose="020B0604020104020204" pitchFamily="34" charset="0"/>
              </a:rPr>
              <a:t> Notification Message), </a:t>
            </a:r>
            <a:r>
              <a:rPr lang="it-IT" dirty="0" err="1">
                <a:latin typeface="Abadi" panose="020B0604020104020204" pitchFamily="34" charset="0"/>
              </a:rPr>
              <a:t>ext</a:t>
            </a:r>
            <a:r>
              <a:rPr lang="it-IT" dirty="0">
                <a:latin typeface="Abadi" panose="020B0604020104020204" pitchFamily="34" charset="0"/>
              </a:rPr>
              <a:t>.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B6AAC67-36EC-DEE4-D232-B02E0340C65A}"/>
              </a:ext>
            </a:extLst>
          </p:cNvPr>
          <p:cNvSpPr txBox="1"/>
          <p:nvPr/>
        </p:nvSpPr>
        <p:spPr>
          <a:xfrm>
            <a:off x="7423355" y="5916100"/>
            <a:ext cx="306766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300" dirty="0">
                <a:solidFill>
                  <a:schemeClr val="accent2"/>
                </a:solidFill>
                <a:latin typeface="Abadi" panose="020B0604020104020204" pitchFamily="34" charset="0"/>
              </a:rPr>
              <a:t>Fig.1 – V2X Public Key </a:t>
            </a:r>
            <a:r>
              <a:rPr lang="it-IT" sz="1300" dirty="0" err="1">
                <a:solidFill>
                  <a:schemeClr val="accent2"/>
                </a:solidFill>
                <a:latin typeface="Abadi" panose="020B0604020104020204" pitchFamily="34" charset="0"/>
              </a:rPr>
              <a:t>Infrastructure</a:t>
            </a:r>
            <a:endParaRPr lang="it-IT" sz="1300" dirty="0">
              <a:solidFill>
                <a:schemeClr val="accent2"/>
              </a:solidFill>
              <a:latin typeface="Abadi" panose="020B0604020104020204" pitchFamily="34" charset="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BC11163-3FFF-4567-CBE9-0F97A3D523C8}"/>
              </a:ext>
            </a:extLst>
          </p:cNvPr>
          <p:cNvSpPr txBox="1"/>
          <p:nvPr/>
        </p:nvSpPr>
        <p:spPr>
          <a:xfrm>
            <a:off x="749709" y="6439508"/>
            <a:ext cx="109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Matteo Pedone														 29 Ottobre 2024		 2/14</a:t>
            </a:r>
          </a:p>
        </p:txBody>
      </p:sp>
    </p:spTree>
    <p:extLst>
      <p:ext uri="{BB962C8B-B14F-4D97-AF65-F5344CB8AC3E}">
        <p14:creationId xmlns:p14="http://schemas.microsoft.com/office/powerpoint/2010/main" val="2136139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249FE-06F6-54DA-3C58-8D0FC1233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64C1F6-7177-32CE-0369-164FDD74B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accent2"/>
                </a:solidFill>
                <a:latin typeface="Abadi" panose="020B0604020104020204" pitchFamily="34" charset="0"/>
              </a:rPr>
              <a:t>Contesto – PQC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3A4F9C0-840C-58C0-8F51-3392C3ED87A5}"/>
              </a:ext>
            </a:extLst>
          </p:cNvPr>
          <p:cNvSpPr txBox="1"/>
          <p:nvPr/>
        </p:nvSpPr>
        <p:spPr>
          <a:xfrm>
            <a:off x="1097281" y="2258319"/>
            <a:ext cx="10058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Le crescenti capacità dei computer quantistici negli ultimi anni rappresentano gravi minacce alla sicurezza dei sistemi informatici attuali, in particolare quelli basati su algoritmi a chiave pubblica, come V2X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dirty="0">
              <a:latin typeface="Abadi" panose="020B06040201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Dal 2012, il National Institute of Standards and Technology (NIST) sta guidando uno sforzo di standardizzazione per selezionare la </a:t>
            </a:r>
            <a:r>
              <a:rPr lang="it-IT" b="1" dirty="0">
                <a:solidFill>
                  <a:schemeClr val="accent2"/>
                </a:solidFill>
                <a:latin typeface="Abadi" panose="020B0604020104020204" pitchFamily="34" charset="0"/>
              </a:rPr>
              <a:t>crittografia post-quantistica </a:t>
            </a:r>
            <a:r>
              <a:rPr lang="it-IT" dirty="0">
                <a:latin typeface="Abadi" panose="020B0604020104020204" pitchFamily="34" charset="0"/>
              </a:rPr>
              <a:t>(</a:t>
            </a:r>
            <a:r>
              <a:rPr lang="it-IT" b="1" dirty="0">
                <a:solidFill>
                  <a:schemeClr val="accent2"/>
                </a:solidFill>
                <a:latin typeface="Abadi" panose="020B0604020104020204" pitchFamily="34" charset="0"/>
              </a:rPr>
              <a:t>PQC</a:t>
            </a:r>
            <a:r>
              <a:rPr lang="it-IT" dirty="0">
                <a:latin typeface="Abadi" panose="020B0604020104020204" pitchFamily="34" charset="0"/>
              </a:rPr>
              <a:t>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dirty="0">
              <a:latin typeface="Abadi" panose="020B06040201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Tra gli algoritmi di firma che sono avanzati alla quarta fase di valutazione ci sono           </a:t>
            </a:r>
            <a:r>
              <a:rPr lang="it-IT" b="1" dirty="0">
                <a:latin typeface="Abadi" panose="020B0604020104020204" pitchFamily="34" charset="0"/>
              </a:rPr>
              <a:t>CRYSTALS - </a:t>
            </a:r>
            <a:r>
              <a:rPr lang="it-IT" b="1" dirty="0" err="1">
                <a:latin typeface="Abadi" panose="020B0604020104020204" pitchFamily="34" charset="0"/>
              </a:rPr>
              <a:t>Dilithium</a:t>
            </a:r>
            <a:r>
              <a:rPr lang="it-IT" dirty="0">
                <a:latin typeface="Abadi" panose="020B0604020104020204" pitchFamily="34" charset="0"/>
              </a:rPr>
              <a:t>, Falcon e SPHINCS+</a:t>
            </a:r>
          </a:p>
          <a:p>
            <a:pPr marL="342900" indent="-342900" algn="just">
              <a:buFont typeface="+mj-lt"/>
              <a:buAutoNum type="arabicPeriod"/>
            </a:pPr>
            <a:endParaRPr lang="it-IT" dirty="0">
              <a:latin typeface="Abadi" panose="020B0604020104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556C62C-9BA5-750D-C4FB-77785371C624}"/>
              </a:ext>
            </a:extLst>
          </p:cNvPr>
          <p:cNvSpPr txBox="1"/>
          <p:nvPr/>
        </p:nvSpPr>
        <p:spPr>
          <a:xfrm>
            <a:off x="749709" y="6439508"/>
            <a:ext cx="109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Matteo Pedone														 29 Ottobre 2024		 3/14</a:t>
            </a:r>
          </a:p>
        </p:txBody>
      </p:sp>
    </p:spTree>
    <p:extLst>
      <p:ext uri="{BB962C8B-B14F-4D97-AF65-F5344CB8AC3E}">
        <p14:creationId xmlns:p14="http://schemas.microsoft.com/office/powerpoint/2010/main" val="847023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5001F-96C0-061E-C579-7B6634C5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064EB6-17D3-42CE-A1F9-C128FD069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accent2"/>
                </a:solidFill>
                <a:latin typeface="Abadi" panose="020B0604020104020204" pitchFamily="34" charset="0"/>
              </a:rPr>
              <a:t>Obiettivi della Tesi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5D29F98-B45E-3239-0EBA-B4DAC86F06C5}"/>
              </a:ext>
            </a:extLst>
          </p:cNvPr>
          <p:cNvSpPr txBox="1"/>
          <p:nvPr/>
        </p:nvSpPr>
        <p:spPr>
          <a:xfrm>
            <a:off x="1097280" y="2182761"/>
            <a:ext cx="10058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chemeClr val="accent2"/>
              </a:buClr>
              <a:buFont typeface="+mj-lt"/>
              <a:buAutoNum type="arabicPeriod"/>
            </a:pPr>
            <a:r>
              <a:rPr lang="it-IT" dirty="0">
                <a:latin typeface="Abadi" panose="020B0604020104020204" pitchFamily="34" charset="0"/>
              </a:rPr>
              <a:t>Aggiornare la struttura e i campi dei certificati delle entità coinvolte nell’architettura PKI V2X per supportare le nuove chiavi e firme post-quantistiche</a:t>
            </a:r>
          </a:p>
          <a:p>
            <a:pPr marL="342900" indent="-342900" algn="just">
              <a:buClr>
                <a:schemeClr val="accent2"/>
              </a:buClr>
              <a:buFont typeface="+mj-lt"/>
              <a:buAutoNum type="arabicPeriod"/>
            </a:pPr>
            <a:endParaRPr lang="it-IT" dirty="0">
              <a:latin typeface="Abadi" panose="020B0604020104020204" pitchFamily="34" charset="0"/>
            </a:endParaRPr>
          </a:p>
          <a:p>
            <a:pPr marL="342900" indent="-342900" algn="just">
              <a:buClr>
                <a:schemeClr val="accent2"/>
              </a:buClr>
              <a:buFont typeface="+mj-lt"/>
              <a:buAutoNum type="arabicPeriod"/>
            </a:pPr>
            <a:r>
              <a:rPr lang="it-IT" dirty="0">
                <a:latin typeface="Abadi" panose="020B0604020104020204" pitchFamily="34" charset="0"/>
              </a:rPr>
              <a:t>Integrazione delle API di crittografia post-quantistica (PQC) per estendere lo standard seguito per la comunicazione tra veicoli  </a:t>
            </a:r>
          </a:p>
          <a:p>
            <a:pPr marL="342900" indent="-342900" algn="just">
              <a:buFont typeface="+mj-lt"/>
              <a:buAutoNum type="arabicPeriod"/>
            </a:pPr>
            <a:endParaRPr lang="it-IT" dirty="0">
              <a:latin typeface="Abadi" panose="020B0604020104020204" pitchFamily="34" charset="0"/>
            </a:endParaRPr>
          </a:p>
          <a:p>
            <a:pPr marL="342900" indent="-342900" algn="just">
              <a:buClr>
                <a:schemeClr val="accent2"/>
              </a:buClr>
              <a:buFont typeface="+mj-lt"/>
              <a:buAutoNum type="arabicPeriod"/>
            </a:pPr>
            <a:r>
              <a:rPr lang="it-IT" dirty="0">
                <a:latin typeface="Abadi" panose="020B0604020104020204" pitchFamily="34" charset="0"/>
              </a:rPr>
              <a:t>Invio di nuovi messaggi CAM non-standard, aggiungendo la nuova firma digitale post-quantistica</a:t>
            </a:r>
          </a:p>
          <a:p>
            <a:pPr marL="342900" indent="-342900" algn="just">
              <a:buFont typeface="+mj-lt"/>
              <a:buAutoNum type="arabicPeriod"/>
            </a:pPr>
            <a:endParaRPr lang="it-IT" dirty="0">
              <a:latin typeface="Abadi" panose="020B0604020104020204" pitchFamily="34" charset="0"/>
            </a:endParaRPr>
          </a:p>
          <a:p>
            <a:pPr marL="342900" indent="-342900" algn="just">
              <a:buClr>
                <a:srgbClr val="2683C6"/>
              </a:buClr>
              <a:buFont typeface="+mj-lt"/>
              <a:buAutoNum type="arabicPeriod"/>
            </a:pPr>
            <a:r>
              <a:rPr lang="it-IT" dirty="0">
                <a:latin typeface="Abadi" panose="020B0604020104020204" pitchFamily="34" charset="0"/>
              </a:rPr>
              <a:t>Analisi comparativa delle dimensioni dei messaggi e dei tempi di firma tra il metodo standard esistente per la firma dei messaggi CAM e il metodo implementato in questa tesi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55C1658-E1C8-1A96-17AA-27264F5B3930}"/>
              </a:ext>
            </a:extLst>
          </p:cNvPr>
          <p:cNvSpPr txBox="1"/>
          <p:nvPr/>
        </p:nvSpPr>
        <p:spPr>
          <a:xfrm>
            <a:off x="749709" y="6439508"/>
            <a:ext cx="109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Matteo Pedone														 29 Ottobre 2024		 4/14</a:t>
            </a:r>
          </a:p>
        </p:txBody>
      </p:sp>
    </p:spTree>
    <p:extLst>
      <p:ext uri="{BB962C8B-B14F-4D97-AF65-F5344CB8AC3E}">
        <p14:creationId xmlns:p14="http://schemas.microsoft.com/office/powerpoint/2010/main" val="419854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CFC25-8D94-043F-D08B-7B1DC6A18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603660-0A84-E18F-AB02-1121E27A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accent2"/>
                </a:solidFill>
                <a:latin typeface="Abadi" panose="020B0604020104020204" pitchFamily="34" charset="0"/>
              </a:rPr>
              <a:t>Tools e librerie usate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0F5A186-3BB7-FED1-AD84-9D3961CF6397}"/>
              </a:ext>
            </a:extLst>
          </p:cNvPr>
          <p:cNvSpPr txBox="1"/>
          <p:nvPr/>
        </p:nvSpPr>
        <p:spPr>
          <a:xfrm>
            <a:off x="1097280" y="1956619"/>
            <a:ext cx="10058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Soluzione proprietaria:</a:t>
            </a:r>
          </a:p>
          <a:p>
            <a:pPr lvl="1"/>
            <a:r>
              <a:rPr lang="it-IT" dirty="0">
                <a:latin typeface="Abadi" panose="020B0604020104020204" pitchFamily="34" charset="0"/>
              </a:rPr>
              <a:t>- </a:t>
            </a:r>
            <a:r>
              <a:rPr lang="it-IT" dirty="0" err="1">
                <a:latin typeface="Abadi" panose="020B0604020104020204" pitchFamily="34" charset="0"/>
              </a:rPr>
              <a:t>Cohda</a:t>
            </a:r>
            <a:r>
              <a:rPr lang="it-IT" dirty="0">
                <a:latin typeface="Abadi" panose="020B0604020104020204" pitchFamily="34" charset="0"/>
              </a:rPr>
              <a:t> Wireless Virtual Machines</a:t>
            </a:r>
          </a:p>
          <a:p>
            <a:pPr marL="742950" lvl="1" indent="-285750">
              <a:buFontTx/>
              <a:buChar char="-"/>
            </a:pPr>
            <a:endParaRPr lang="it-IT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Soluzione Open-Source:</a:t>
            </a:r>
          </a:p>
          <a:p>
            <a:pPr marL="0" indent="0">
              <a:buNone/>
            </a:pPr>
            <a:r>
              <a:rPr lang="it-IT" dirty="0">
                <a:latin typeface="Abadi" panose="020B0604020104020204" pitchFamily="34" charset="0"/>
              </a:rPr>
              <a:t>	- Docker container</a:t>
            </a:r>
          </a:p>
          <a:p>
            <a:pPr marL="0" indent="0">
              <a:buNone/>
            </a:pPr>
            <a:r>
              <a:rPr lang="it-IT" dirty="0">
                <a:latin typeface="Abadi" panose="020B0604020104020204" pitchFamily="34" charset="0"/>
              </a:rPr>
              <a:t>	- </a:t>
            </a:r>
            <a:r>
              <a:rPr lang="it-IT" dirty="0" err="1">
                <a:latin typeface="Abadi" panose="020B0604020104020204" pitchFamily="34" charset="0"/>
              </a:rPr>
              <a:t>Wireshark</a:t>
            </a:r>
            <a:endParaRPr lang="it-IT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badi" panose="020B0604020104020204" pitchFamily="34" charset="0"/>
              </a:rPr>
              <a:t>	- </a:t>
            </a:r>
            <a:r>
              <a:rPr lang="it-IT" dirty="0" err="1">
                <a:latin typeface="Abadi" panose="020B0604020104020204" pitchFamily="34" charset="0"/>
              </a:rPr>
              <a:t>FsMsgGen</a:t>
            </a:r>
            <a:r>
              <a:rPr lang="it-IT" dirty="0">
                <a:latin typeface="Abadi" panose="020B0604020104020204" pitchFamily="34" charset="0"/>
              </a:rPr>
              <a:t> open-source tool, generatore di messaggi CAM e DENM</a:t>
            </a:r>
          </a:p>
          <a:p>
            <a:pPr marL="0" indent="0">
              <a:buNone/>
            </a:pPr>
            <a:r>
              <a:rPr lang="it-IT" dirty="0">
                <a:latin typeface="Abadi" panose="020B0604020104020204" pitchFamily="34" charset="0"/>
              </a:rPr>
              <a:t>	- </a:t>
            </a:r>
            <a:r>
              <a:rPr lang="it-IT" dirty="0" err="1">
                <a:latin typeface="Abadi" panose="020B0604020104020204" pitchFamily="34" charset="0"/>
              </a:rPr>
              <a:t>ItsCertGen</a:t>
            </a:r>
            <a:r>
              <a:rPr lang="it-IT" dirty="0">
                <a:latin typeface="Abadi" panose="020B0604020104020204" pitchFamily="34" charset="0"/>
              </a:rPr>
              <a:t> open-source tool, generatore di certificati</a:t>
            </a:r>
          </a:p>
          <a:p>
            <a:pPr marL="0" indent="0">
              <a:buNone/>
            </a:pPr>
            <a:endParaRPr lang="it-IT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Librarie coinvolte: </a:t>
            </a:r>
          </a:p>
          <a:p>
            <a:r>
              <a:rPr lang="it-IT" dirty="0">
                <a:latin typeface="Abadi" panose="020B0604020104020204" pitchFamily="34" charset="0"/>
              </a:rPr>
              <a:t>	- </a:t>
            </a:r>
            <a:r>
              <a:rPr lang="it-IT" dirty="0" err="1">
                <a:latin typeface="Abadi" panose="020B0604020104020204" pitchFamily="34" charset="0"/>
              </a:rPr>
              <a:t>FitSec</a:t>
            </a:r>
            <a:endParaRPr lang="it-IT" dirty="0">
              <a:latin typeface="Abadi" panose="020B0604020104020204" pitchFamily="34" charset="0"/>
            </a:endParaRPr>
          </a:p>
          <a:p>
            <a:r>
              <a:rPr lang="it-IT" dirty="0">
                <a:latin typeface="Abadi" panose="020B0604020104020204" pitchFamily="34" charset="0"/>
              </a:rPr>
              <a:t>	- PCAP</a:t>
            </a:r>
          </a:p>
          <a:p>
            <a:r>
              <a:rPr lang="it-IT" dirty="0">
                <a:latin typeface="Abadi" panose="020B0604020104020204" pitchFamily="34" charset="0"/>
              </a:rPr>
              <a:t>	- </a:t>
            </a:r>
            <a:r>
              <a:rPr lang="it-IT" dirty="0" err="1">
                <a:latin typeface="Abadi" panose="020B0604020104020204" pitchFamily="34" charset="0"/>
              </a:rPr>
              <a:t>liboqs</a:t>
            </a:r>
            <a:endParaRPr lang="it-IT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Abadi" panose="020B0604020104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D6FFEF-026C-B798-D773-4AD2DACC49A5}"/>
              </a:ext>
            </a:extLst>
          </p:cNvPr>
          <p:cNvSpPr txBox="1"/>
          <p:nvPr/>
        </p:nvSpPr>
        <p:spPr>
          <a:xfrm>
            <a:off x="749709" y="6439508"/>
            <a:ext cx="109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Matteo Pedone														 29 Ottobre 2024		 5/14</a:t>
            </a:r>
          </a:p>
        </p:txBody>
      </p:sp>
    </p:spTree>
    <p:extLst>
      <p:ext uri="{BB962C8B-B14F-4D97-AF65-F5344CB8AC3E}">
        <p14:creationId xmlns:p14="http://schemas.microsoft.com/office/powerpoint/2010/main" val="3644348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82D79-2C1C-A8DF-B338-4A6DE5466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7FBFAA-4B33-AAD9-515D-CD974441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accent2"/>
                </a:solidFill>
                <a:latin typeface="Abadi" panose="020B0604020104020204" pitchFamily="34" charset="0"/>
              </a:rPr>
              <a:t>Generazione di certificati che supportano chiavi e firme </a:t>
            </a:r>
            <a:r>
              <a:rPr lang="it-IT" dirty="0" err="1">
                <a:solidFill>
                  <a:schemeClr val="accent2"/>
                </a:solidFill>
                <a:latin typeface="Abadi" panose="020B0604020104020204" pitchFamily="34" charset="0"/>
              </a:rPr>
              <a:t>Dilithium</a:t>
            </a:r>
            <a:endParaRPr lang="it-IT" dirty="0">
              <a:solidFill>
                <a:schemeClr val="accent2"/>
              </a:solidFill>
              <a:latin typeface="Abadi" panose="020B0604020104020204" pitchFamily="34" charset="0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078F521E-D10E-18CD-2C1C-051291DB78BE}"/>
              </a:ext>
            </a:extLst>
          </p:cNvPr>
          <p:cNvSpPr/>
          <p:nvPr/>
        </p:nvSpPr>
        <p:spPr>
          <a:xfrm>
            <a:off x="8007514" y="1833880"/>
            <a:ext cx="3148166" cy="4107180"/>
          </a:xfrm>
          <a:custGeom>
            <a:avLst/>
            <a:gdLst>
              <a:gd name="connsiteX0" fmla="*/ 0 w 3510116"/>
              <a:gd name="connsiteY0" fmla="*/ 585031 h 4506123"/>
              <a:gd name="connsiteX1" fmla="*/ 585031 w 3510116"/>
              <a:gd name="connsiteY1" fmla="*/ 0 h 4506123"/>
              <a:gd name="connsiteX2" fmla="*/ 2925085 w 3510116"/>
              <a:gd name="connsiteY2" fmla="*/ 0 h 4506123"/>
              <a:gd name="connsiteX3" fmla="*/ 3510116 w 3510116"/>
              <a:gd name="connsiteY3" fmla="*/ 585031 h 4506123"/>
              <a:gd name="connsiteX4" fmla="*/ 3510116 w 3510116"/>
              <a:gd name="connsiteY4" fmla="*/ 3921092 h 4506123"/>
              <a:gd name="connsiteX5" fmla="*/ 2925085 w 3510116"/>
              <a:gd name="connsiteY5" fmla="*/ 4506123 h 4506123"/>
              <a:gd name="connsiteX6" fmla="*/ 585031 w 3510116"/>
              <a:gd name="connsiteY6" fmla="*/ 4506123 h 4506123"/>
              <a:gd name="connsiteX7" fmla="*/ 0 w 3510116"/>
              <a:gd name="connsiteY7" fmla="*/ 3921092 h 4506123"/>
              <a:gd name="connsiteX8" fmla="*/ 0 w 3510116"/>
              <a:gd name="connsiteY8" fmla="*/ 585031 h 4506123"/>
              <a:gd name="connsiteX0" fmla="*/ 3810 w 3510116"/>
              <a:gd name="connsiteY0" fmla="*/ 322141 h 4506123"/>
              <a:gd name="connsiteX1" fmla="*/ 585031 w 3510116"/>
              <a:gd name="connsiteY1" fmla="*/ 0 h 4506123"/>
              <a:gd name="connsiteX2" fmla="*/ 2925085 w 3510116"/>
              <a:gd name="connsiteY2" fmla="*/ 0 h 4506123"/>
              <a:gd name="connsiteX3" fmla="*/ 3510116 w 3510116"/>
              <a:gd name="connsiteY3" fmla="*/ 585031 h 4506123"/>
              <a:gd name="connsiteX4" fmla="*/ 3510116 w 3510116"/>
              <a:gd name="connsiteY4" fmla="*/ 3921092 h 4506123"/>
              <a:gd name="connsiteX5" fmla="*/ 2925085 w 3510116"/>
              <a:gd name="connsiteY5" fmla="*/ 4506123 h 4506123"/>
              <a:gd name="connsiteX6" fmla="*/ 585031 w 3510116"/>
              <a:gd name="connsiteY6" fmla="*/ 4506123 h 4506123"/>
              <a:gd name="connsiteX7" fmla="*/ 0 w 3510116"/>
              <a:gd name="connsiteY7" fmla="*/ 3921092 h 4506123"/>
              <a:gd name="connsiteX8" fmla="*/ 3810 w 3510116"/>
              <a:gd name="connsiteY8" fmla="*/ 322141 h 4506123"/>
              <a:gd name="connsiteX0" fmla="*/ 3810 w 3510116"/>
              <a:gd name="connsiteY0" fmla="*/ 322162 h 4506144"/>
              <a:gd name="connsiteX1" fmla="*/ 585031 w 3510116"/>
              <a:gd name="connsiteY1" fmla="*/ 21 h 4506144"/>
              <a:gd name="connsiteX2" fmla="*/ 2925085 w 3510116"/>
              <a:gd name="connsiteY2" fmla="*/ 21 h 4506144"/>
              <a:gd name="connsiteX3" fmla="*/ 3510116 w 3510116"/>
              <a:gd name="connsiteY3" fmla="*/ 314542 h 4506144"/>
              <a:gd name="connsiteX4" fmla="*/ 3510116 w 3510116"/>
              <a:gd name="connsiteY4" fmla="*/ 3921113 h 4506144"/>
              <a:gd name="connsiteX5" fmla="*/ 2925085 w 3510116"/>
              <a:gd name="connsiteY5" fmla="*/ 4506144 h 4506144"/>
              <a:gd name="connsiteX6" fmla="*/ 585031 w 3510116"/>
              <a:gd name="connsiteY6" fmla="*/ 4506144 h 4506144"/>
              <a:gd name="connsiteX7" fmla="*/ 0 w 3510116"/>
              <a:gd name="connsiteY7" fmla="*/ 3921113 h 4506144"/>
              <a:gd name="connsiteX8" fmla="*/ 3810 w 3510116"/>
              <a:gd name="connsiteY8" fmla="*/ 322162 h 4506144"/>
              <a:gd name="connsiteX0" fmla="*/ 0 w 3506306"/>
              <a:gd name="connsiteY0" fmla="*/ 322162 h 4506144"/>
              <a:gd name="connsiteX1" fmla="*/ 581221 w 3506306"/>
              <a:gd name="connsiteY1" fmla="*/ 21 h 4506144"/>
              <a:gd name="connsiteX2" fmla="*/ 2921275 w 3506306"/>
              <a:gd name="connsiteY2" fmla="*/ 21 h 4506144"/>
              <a:gd name="connsiteX3" fmla="*/ 3506306 w 3506306"/>
              <a:gd name="connsiteY3" fmla="*/ 314542 h 4506144"/>
              <a:gd name="connsiteX4" fmla="*/ 3506306 w 3506306"/>
              <a:gd name="connsiteY4" fmla="*/ 3921113 h 4506144"/>
              <a:gd name="connsiteX5" fmla="*/ 2921275 w 3506306"/>
              <a:gd name="connsiteY5" fmla="*/ 4506144 h 4506144"/>
              <a:gd name="connsiteX6" fmla="*/ 581221 w 3506306"/>
              <a:gd name="connsiteY6" fmla="*/ 4506144 h 4506144"/>
              <a:gd name="connsiteX7" fmla="*/ 0 w 3506306"/>
              <a:gd name="connsiteY7" fmla="*/ 4161143 h 4506144"/>
              <a:gd name="connsiteX8" fmla="*/ 0 w 3506306"/>
              <a:gd name="connsiteY8" fmla="*/ 322162 h 4506144"/>
              <a:gd name="connsiteX0" fmla="*/ 0 w 3513926"/>
              <a:gd name="connsiteY0" fmla="*/ 322162 h 4506537"/>
              <a:gd name="connsiteX1" fmla="*/ 581221 w 3513926"/>
              <a:gd name="connsiteY1" fmla="*/ 21 h 4506537"/>
              <a:gd name="connsiteX2" fmla="*/ 2921275 w 3513926"/>
              <a:gd name="connsiteY2" fmla="*/ 21 h 4506537"/>
              <a:gd name="connsiteX3" fmla="*/ 3506306 w 3513926"/>
              <a:gd name="connsiteY3" fmla="*/ 314542 h 4506537"/>
              <a:gd name="connsiteX4" fmla="*/ 3513926 w 3513926"/>
              <a:gd name="connsiteY4" fmla="*/ 4206863 h 4506537"/>
              <a:gd name="connsiteX5" fmla="*/ 2921275 w 3513926"/>
              <a:gd name="connsiteY5" fmla="*/ 4506144 h 4506537"/>
              <a:gd name="connsiteX6" fmla="*/ 581221 w 3513926"/>
              <a:gd name="connsiteY6" fmla="*/ 4506144 h 4506537"/>
              <a:gd name="connsiteX7" fmla="*/ 0 w 3513926"/>
              <a:gd name="connsiteY7" fmla="*/ 4161143 h 4506537"/>
              <a:gd name="connsiteX8" fmla="*/ 0 w 3513926"/>
              <a:gd name="connsiteY8" fmla="*/ 322162 h 4506537"/>
              <a:gd name="connsiteX0" fmla="*/ 0 w 3513926"/>
              <a:gd name="connsiteY0" fmla="*/ 322162 h 4506537"/>
              <a:gd name="connsiteX1" fmla="*/ 423106 w 3513926"/>
              <a:gd name="connsiteY1" fmla="*/ 21 h 4506537"/>
              <a:gd name="connsiteX2" fmla="*/ 2921275 w 3513926"/>
              <a:gd name="connsiteY2" fmla="*/ 21 h 4506537"/>
              <a:gd name="connsiteX3" fmla="*/ 3506306 w 3513926"/>
              <a:gd name="connsiteY3" fmla="*/ 314542 h 4506537"/>
              <a:gd name="connsiteX4" fmla="*/ 3513926 w 3513926"/>
              <a:gd name="connsiteY4" fmla="*/ 4206863 h 4506537"/>
              <a:gd name="connsiteX5" fmla="*/ 2921275 w 3513926"/>
              <a:gd name="connsiteY5" fmla="*/ 4506144 h 4506537"/>
              <a:gd name="connsiteX6" fmla="*/ 581221 w 3513926"/>
              <a:gd name="connsiteY6" fmla="*/ 4506144 h 4506537"/>
              <a:gd name="connsiteX7" fmla="*/ 0 w 3513926"/>
              <a:gd name="connsiteY7" fmla="*/ 4161143 h 4506537"/>
              <a:gd name="connsiteX8" fmla="*/ 0 w 3513926"/>
              <a:gd name="connsiteY8" fmla="*/ 322162 h 4506537"/>
              <a:gd name="connsiteX0" fmla="*/ 0 w 3513926"/>
              <a:gd name="connsiteY0" fmla="*/ 322142 h 4506517"/>
              <a:gd name="connsiteX1" fmla="*/ 423106 w 3513926"/>
              <a:gd name="connsiteY1" fmla="*/ 1 h 4506517"/>
              <a:gd name="connsiteX2" fmla="*/ 3047005 w 3513926"/>
              <a:gd name="connsiteY2" fmla="*/ 1906 h 4506517"/>
              <a:gd name="connsiteX3" fmla="*/ 3506306 w 3513926"/>
              <a:gd name="connsiteY3" fmla="*/ 314522 h 4506517"/>
              <a:gd name="connsiteX4" fmla="*/ 3513926 w 3513926"/>
              <a:gd name="connsiteY4" fmla="*/ 4206843 h 4506517"/>
              <a:gd name="connsiteX5" fmla="*/ 2921275 w 3513926"/>
              <a:gd name="connsiteY5" fmla="*/ 4506124 h 4506517"/>
              <a:gd name="connsiteX6" fmla="*/ 581221 w 3513926"/>
              <a:gd name="connsiteY6" fmla="*/ 4506124 h 4506517"/>
              <a:gd name="connsiteX7" fmla="*/ 0 w 3513926"/>
              <a:gd name="connsiteY7" fmla="*/ 4161123 h 4506517"/>
              <a:gd name="connsiteX8" fmla="*/ 0 w 3513926"/>
              <a:gd name="connsiteY8" fmla="*/ 322142 h 4506517"/>
              <a:gd name="connsiteX0" fmla="*/ 0 w 3513926"/>
              <a:gd name="connsiteY0" fmla="*/ 322142 h 4506517"/>
              <a:gd name="connsiteX1" fmla="*/ 423106 w 3513926"/>
              <a:gd name="connsiteY1" fmla="*/ 1 h 4506517"/>
              <a:gd name="connsiteX2" fmla="*/ 3097805 w 3513926"/>
              <a:gd name="connsiteY2" fmla="*/ 1906 h 4506517"/>
              <a:gd name="connsiteX3" fmla="*/ 3506306 w 3513926"/>
              <a:gd name="connsiteY3" fmla="*/ 314522 h 4506517"/>
              <a:gd name="connsiteX4" fmla="*/ 3513926 w 3513926"/>
              <a:gd name="connsiteY4" fmla="*/ 4206843 h 4506517"/>
              <a:gd name="connsiteX5" fmla="*/ 2921275 w 3513926"/>
              <a:gd name="connsiteY5" fmla="*/ 4506124 h 4506517"/>
              <a:gd name="connsiteX6" fmla="*/ 581221 w 3513926"/>
              <a:gd name="connsiteY6" fmla="*/ 4506124 h 4506517"/>
              <a:gd name="connsiteX7" fmla="*/ 0 w 3513926"/>
              <a:gd name="connsiteY7" fmla="*/ 4161123 h 4506517"/>
              <a:gd name="connsiteX8" fmla="*/ 0 w 3513926"/>
              <a:gd name="connsiteY8" fmla="*/ 322142 h 4506517"/>
              <a:gd name="connsiteX0" fmla="*/ 0 w 3513926"/>
              <a:gd name="connsiteY0" fmla="*/ 322142 h 4506517"/>
              <a:gd name="connsiteX1" fmla="*/ 423106 w 3513926"/>
              <a:gd name="connsiteY1" fmla="*/ 1 h 4506517"/>
              <a:gd name="connsiteX2" fmla="*/ 3097805 w 3513926"/>
              <a:gd name="connsiteY2" fmla="*/ 1906 h 4506517"/>
              <a:gd name="connsiteX3" fmla="*/ 3506306 w 3513926"/>
              <a:gd name="connsiteY3" fmla="*/ 314522 h 4506517"/>
              <a:gd name="connsiteX4" fmla="*/ 3513926 w 3513926"/>
              <a:gd name="connsiteY4" fmla="*/ 4206843 h 4506517"/>
              <a:gd name="connsiteX5" fmla="*/ 3111775 w 3513926"/>
              <a:gd name="connsiteY5" fmla="*/ 4506124 h 4506517"/>
              <a:gd name="connsiteX6" fmla="*/ 581221 w 3513926"/>
              <a:gd name="connsiteY6" fmla="*/ 4506124 h 4506517"/>
              <a:gd name="connsiteX7" fmla="*/ 0 w 3513926"/>
              <a:gd name="connsiteY7" fmla="*/ 4161123 h 4506517"/>
              <a:gd name="connsiteX8" fmla="*/ 0 w 3513926"/>
              <a:gd name="connsiteY8" fmla="*/ 322142 h 4506517"/>
              <a:gd name="connsiteX0" fmla="*/ 0 w 3513926"/>
              <a:gd name="connsiteY0" fmla="*/ 322142 h 4506517"/>
              <a:gd name="connsiteX1" fmla="*/ 423106 w 3513926"/>
              <a:gd name="connsiteY1" fmla="*/ 1 h 4506517"/>
              <a:gd name="connsiteX2" fmla="*/ 3097805 w 3513926"/>
              <a:gd name="connsiteY2" fmla="*/ 1906 h 4506517"/>
              <a:gd name="connsiteX3" fmla="*/ 3506306 w 3513926"/>
              <a:gd name="connsiteY3" fmla="*/ 314522 h 4506517"/>
              <a:gd name="connsiteX4" fmla="*/ 3513926 w 3513926"/>
              <a:gd name="connsiteY4" fmla="*/ 4206843 h 4506517"/>
              <a:gd name="connsiteX5" fmla="*/ 3111775 w 3513926"/>
              <a:gd name="connsiteY5" fmla="*/ 4506124 h 4506517"/>
              <a:gd name="connsiteX6" fmla="*/ 375481 w 3513926"/>
              <a:gd name="connsiteY6" fmla="*/ 4506124 h 4506517"/>
              <a:gd name="connsiteX7" fmla="*/ 0 w 3513926"/>
              <a:gd name="connsiteY7" fmla="*/ 4161123 h 4506517"/>
              <a:gd name="connsiteX8" fmla="*/ 0 w 3513926"/>
              <a:gd name="connsiteY8" fmla="*/ 322142 h 4506517"/>
              <a:gd name="connsiteX0" fmla="*/ 0 w 3513926"/>
              <a:gd name="connsiteY0" fmla="*/ 322142 h 4506517"/>
              <a:gd name="connsiteX1" fmla="*/ 423106 w 3513926"/>
              <a:gd name="connsiteY1" fmla="*/ 1 h 4506517"/>
              <a:gd name="connsiteX2" fmla="*/ 3097805 w 3513926"/>
              <a:gd name="connsiteY2" fmla="*/ 1906 h 4506517"/>
              <a:gd name="connsiteX3" fmla="*/ 3506306 w 3513926"/>
              <a:gd name="connsiteY3" fmla="*/ 314522 h 4506517"/>
              <a:gd name="connsiteX4" fmla="*/ 3513926 w 3513926"/>
              <a:gd name="connsiteY4" fmla="*/ 4206843 h 4506517"/>
              <a:gd name="connsiteX5" fmla="*/ 3111775 w 3513926"/>
              <a:gd name="connsiteY5" fmla="*/ 4506124 h 4506517"/>
              <a:gd name="connsiteX6" fmla="*/ 409503 w 3513926"/>
              <a:gd name="connsiteY6" fmla="*/ 4506124 h 4506517"/>
              <a:gd name="connsiteX7" fmla="*/ 0 w 3513926"/>
              <a:gd name="connsiteY7" fmla="*/ 4161123 h 4506517"/>
              <a:gd name="connsiteX8" fmla="*/ 0 w 3513926"/>
              <a:gd name="connsiteY8" fmla="*/ 322142 h 4506517"/>
              <a:gd name="connsiteX0" fmla="*/ 0 w 3513926"/>
              <a:gd name="connsiteY0" fmla="*/ 322142 h 4513878"/>
              <a:gd name="connsiteX1" fmla="*/ 423106 w 3513926"/>
              <a:gd name="connsiteY1" fmla="*/ 1 h 4513878"/>
              <a:gd name="connsiteX2" fmla="*/ 3097805 w 3513926"/>
              <a:gd name="connsiteY2" fmla="*/ 1906 h 4513878"/>
              <a:gd name="connsiteX3" fmla="*/ 3506306 w 3513926"/>
              <a:gd name="connsiteY3" fmla="*/ 314522 h 4513878"/>
              <a:gd name="connsiteX4" fmla="*/ 3513926 w 3513926"/>
              <a:gd name="connsiteY4" fmla="*/ 4206843 h 4513878"/>
              <a:gd name="connsiteX5" fmla="*/ 3052239 w 3513926"/>
              <a:gd name="connsiteY5" fmla="*/ 4513744 h 4513878"/>
              <a:gd name="connsiteX6" fmla="*/ 409503 w 3513926"/>
              <a:gd name="connsiteY6" fmla="*/ 4506124 h 4513878"/>
              <a:gd name="connsiteX7" fmla="*/ 0 w 3513926"/>
              <a:gd name="connsiteY7" fmla="*/ 4161123 h 4513878"/>
              <a:gd name="connsiteX8" fmla="*/ 0 w 3513926"/>
              <a:gd name="connsiteY8" fmla="*/ 322142 h 4513878"/>
              <a:gd name="connsiteX0" fmla="*/ 0 w 3513926"/>
              <a:gd name="connsiteY0" fmla="*/ 322142 h 4513878"/>
              <a:gd name="connsiteX1" fmla="*/ 423106 w 3513926"/>
              <a:gd name="connsiteY1" fmla="*/ 1 h 4513878"/>
              <a:gd name="connsiteX2" fmla="*/ 3097805 w 3513926"/>
              <a:gd name="connsiteY2" fmla="*/ 1906 h 4513878"/>
              <a:gd name="connsiteX3" fmla="*/ 3506306 w 3513926"/>
              <a:gd name="connsiteY3" fmla="*/ 314522 h 4513878"/>
              <a:gd name="connsiteX4" fmla="*/ 3513926 w 3513926"/>
              <a:gd name="connsiteY4" fmla="*/ 4206843 h 4513878"/>
              <a:gd name="connsiteX5" fmla="*/ 3077756 w 3513926"/>
              <a:gd name="connsiteY5" fmla="*/ 4513744 h 4513878"/>
              <a:gd name="connsiteX6" fmla="*/ 409503 w 3513926"/>
              <a:gd name="connsiteY6" fmla="*/ 4506124 h 4513878"/>
              <a:gd name="connsiteX7" fmla="*/ 0 w 3513926"/>
              <a:gd name="connsiteY7" fmla="*/ 4161123 h 4513878"/>
              <a:gd name="connsiteX8" fmla="*/ 0 w 3513926"/>
              <a:gd name="connsiteY8" fmla="*/ 322142 h 4513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13926" h="4513878">
                <a:moveTo>
                  <a:pt x="0" y="322142"/>
                </a:moveTo>
                <a:cubicBezTo>
                  <a:pt x="0" y="-962"/>
                  <a:pt x="100002" y="1"/>
                  <a:pt x="423106" y="1"/>
                </a:cubicBezTo>
                <a:lnTo>
                  <a:pt x="3097805" y="1906"/>
                </a:lnTo>
                <a:cubicBezTo>
                  <a:pt x="3420909" y="1906"/>
                  <a:pt x="3506306" y="-8582"/>
                  <a:pt x="3506306" y="314522"/>
                </a:cubicBezTo>
                <a:lnTo>
                  <a:pt x="3513926" y="4206843"/>
                </a:lnTo>
                <a:cubicBezTo>
                  <a:pt x="3513926" y="4529947"/>
                  <a:pt x="3400860" y="4513744"/>
                  <a:pt x="3077756" y="4513744"/>
                </a:cubicBezTo>
                <a:lnTo>
                  <a:pt x="409503" y="4506124"/>
                </a:lnTo>
                <a:cubicBezTo>
                  <a:pt x="86399" y="4506124"/>
                  <a:pt x="0" y="4484227"/>
                  <a:pt x="0" y="4161123"/>
                </a:cubicBezTo>
                <a:lnTo>
                  <a:pt x="0" y="322142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050" dirty="0">
                <a:solidFill>
                  <a:srgbClr val="002060"/>
                </a:solidFill>
              </a:rPr>
              <a:t>&lt;EtsiTs103097Certificate&gt;    . . . .</a:t>
            </a:r>
          </a:p>
          <a:p>
            <a:r>
              <a:rPr lang="it-IT" sz="1050" dirty="0">
                <a:solidFill>
                  <a:srgbClr val="002060"/>
                </a:solidFill>
              </a:rPr>
              <a:t> &lt;</a:t>
            </a:r>
            <a:r>
              <a:rPr lang="it-IT" sz="1050" dirty="0" err="1">
                <a:solidFill>
                  <a:srgbClr val="002060"/>
                </a:solidFill>
              </a:rPr>
              <a:t>toBeSigned</a:t>
            </a:r>
            <a:r>
              <a:rPr lang="it-IT" sz="1050" dirty="0">
                <a:solidFill>
                  <a:srgbClr val="002060"/>
                </a:solidFill>
              </a:rPr>
              <a:t>&gt;	. . . . 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&lt;</a:t>
            </a:r>
            <a:r>
              <a:rPr lang="it-IT" sz="1050" dirty="0" err="1">
                <a:solidFill>
                  <a:srgbClr val="002060"/>
                </a:solidFill>
              </a:rPr>
              <a:t>encryptionKey</a:t>
            </a:r>
            <a:r>
              <a:rPr lang="it-IT" sz="105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	&lt;</a:t>
            </a:r>
            <a:r>
              <a:rPr lang="it-IT" sz="1050" dirty="0" err="1">
                <a:solidFill>
                  <a:srgbClr val="002060"/>
                </a:solidFill>
              </a:rPr>
              <a:t>supportedSymmAlg</a:t>
            </a:r>
            <a:r>
              <a:rPr lang="it-IT" sz="1050" dirty="0">
                <a:solidFill>
                  <a:srgbClr val="002060"/>
                </a:solidFill>
              </a:rPr>
              <a:t>&gt; &lt;aes128Ccm/&gt;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	&lt;/</a:t>
            </a:r>
            <a:r>
              <a:rPr lang="it-IT" sz="1050" dirty="0" err="1">
                <a:solidFill>
                  <a:srgbClr val="002060"/>
                </a:solidFill>
              </a:rPr>
              <a:t>supportedSymmAlg</a:t>
            </a:r>
            <a:r>
              <a:rPr lang="it-IT" sz="105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	&lt;</a:t>
            </a:r>
            <a:r>
              <a:rPr lang="it-IT" sz="1050" dirty="0" err="1">
                <a:solidFill>
                  <a:srgbClr val="002060"/>
                </a:solidFill>
              </a:rPr>
              <a:t>publicKey</a:t>
            </a:r>
            <a:r>
              <a:rPr lang="it-IT" sz="105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		&lt;eciesNistP256&gt;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			&lt;compressed-y-0/&gt;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		&lt;/eciesNistP256&gt;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	&lt;/</a:t>
            </a:r>
            <a:r>
              <a:rPr lang="it-IT" sz="1050" dirty="0" err="1">
                <a:solidFill>
                  <a:srgbClr val="002060"/>
                </a:solidFill>
              </a:rPr>
              <a:t>publicKey</a:t>
            </a:r>
            <a:r>
              <a:rPr lang="it-IT" sz="105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&lt;/</a:t>
            </a:r>
            <a:r>
              <a:rPr lang="it-IT" sz="1050" dirty="0" err="1">
                <a:solidFill>
                  <a:srgbClr val="002060"/>
                </a:solidFill>
              </a:rPr>
              <a:t>encryptionKey</a:t>
            </a:r>
            <a:r>
              <a:rPr lang="it-IT" sz="105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&lt;</a:t>
            </a:r>
            <a:r>
              <a:rPr lang="it-IT" sz="1050" dirty="0" err="1">
                <a:solidFill>
                  <a:srgbClr val="002060"/>
                </a:solidFill>
              </a:rPr>
              <a:t>verifyKeyIndicator</a:t>
            </a:r>
            <a:r>
              <a:rPr lang="it-IT" sz="105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	&lt;</a:t>
            </a:r>
            <a:r>
              <a:rPr lang="it-IT" sz="1050" dirty="0" err="1">
                <a:solidFill>
                  <a:srgbClr val="002060"/>
                </a:solidFill>
              </a:rPr>
              <a:t>verificationKey</a:t>
            </a:r>
            <a:r>
              <a:rPr lang="it-IT" sz="105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		&lt;</a:t>
            </a:r>
            <a:r>
              <a:rPr lang="it-IT" sz="1050" b="1" dirty="0">
                <a:solidFill>
                  <a:srgbClr val="002060"/>
                </a:solidFill>
              </a:rPr>
              <a:t>dilithium2</a:t>
            </a:r>
            <a:r>
              <a:rPr lang="it-IT" sz="105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			</a:t>
            </a:r>
            <a:r>
              <a:rPr lang="it-IT" sz="1050" b="1" dirty="0">
                <a:solidFill>
                  <a:srgbClr val="002060"/>
                </a:solidFill>
              </a:rPr>
              <a:t>&lt;</a:t>
            </a:r>
            <a:r>
              <a:rPr lang="it-IT" sz="1050" b="1" dirty="0" err="1">
                <a:solidFill>
                  <a:srgbClr val="002060"/>
                </a:solidFill>
              </a:rPr>
              <a:t>publicKey</a:t>
            </a:r>
            <a:r>
              <a:rPr lang="it-IT" sz="1050" b="1" dirty="0">
                <a:solidFill>
                  <a:srgbClr val="002060"/>
                </a:solidFill>
              </a:rPr>
              <a:t>/&gt;</a:t>
            </a:r>
          </a:p>
          <a:p>
            <a:r>
              <a:rPr lang="it-IT" sz="1050" b="1" dirty="0">
                <a:solidFill>
                  <a:srgbClr val="002060"/>
                </a:solidFill>
              </a:rPr>
              <a:t>			&lt;/dilithium2&gt;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	&lt;/</a:t>
            </a:r>
            <a:r>
              <a:rPr lang="it-IT" sz="1050" dirty="0" err="1">
                <a:solidFill>
                  <a:srgbClr val="002060"/>
                </a:solidFill>
              </a:rPr>
              <a:t>verificationKey</a:t>
            </a:r>
            <a:r>
              <a:rPr lang="it-IT" sz="105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&lt;/</a:t>
            </a:r>
            <a:r>
              <a:rPr lang="it-IT" sz="1050" dirty="0" err="1">
                <a:solidFill>
                  <a:srgbClr val="002060"/>
                </a:solidFill>
              </a:rPr>
              <a:t>verifyKeyIndicator</a:t>
            </a:r>
            <a:r>
              <a:rPr lang="it-IT" sz="105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 &lt;/</a:t>
            </a:r>
            <a:r>
              <a:rPr lang="it-IT" sz="1050" dirty="0" err="1">
                <a:solidFill>
                  <a:srgbClr val="002060"/>
                </a:solidFill>
              </a:rPr>
              <a:t>toBeSigned</a:t>
            </a:r>
            <a:r>
              <a:rPr lang="it-IT" sz="105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 &lt;signature&gt;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&lt;</a:t>
            </a:r>
            <a:r>
              <a:rPr lang="it-IT" sz="1050" b="1" dirty="0" err="1">
                <a:solidFill>
                  <a:srgbClr val="002060"/>
                </a:solidFill>
              </a:rPr>
              <a:t>dilithiumSignature</a:t>
            </a:r>
            <a:r>
              <a:rPr lang="it-IT" sz="105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		</a:t>
            </a:r>
            <a:r>
              <a:rPr lang="it-IT" sz="1050" b="1" dirty="0">
                <a:solidFill>
                  <a:srgbClr val="002060"/>
                </a:solidFill>
              </a:rPr>
              <a:t>&lt;</a:t>
            </a:r>
            <a:r>
              <a:rPr lang="it-IT" sz="1050" b="1" dirty="0" err="1">
                <a:solidFill>
                  <a:srgbClr val="002060"/>
                </a:solidFill>
              </a:rPr>
              <a:t>signatureValue</a:t>
            </a:r>
            <a:r>
              <a:rPr lang="it-IT" sz="1050" b="1" dirty="0">
                <a:solidFill>
                  <a:srgbClr val="002060"/>
                </a:solidFill>
              </a:rPr>
              <a:t>/&gt;</a:t>
            </a:r>
          </a:p>
          <a:p>
            <a:r>
              <a:rPr lang="it-IT" sz="1050" b="1" dirty="0">
                <a:solidFill>
                  <a:srgbClr val="002060"/>
                </a:solidFill>
              </a:rPr>
              <a:t>	&lt;/</a:t>
            </a:r>
            <a:r>
              <a:rPr lang="it-IT" sz="1050" b="1" dirty="0" err="1">
                <a:solidFill>
                  <a:srgbClr val="002060"/>
                </a:solidFill>
              </a:rPr>
              <a:t>dilithiumSignature</a:t>
            </a:r>
            <a:r>
              <a:rPr lang="it-IT" sz="1050" b="1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 &lt;/signature&gt;</a:t>
            </a:r>
          </a:p>
          <a:p>
            <a:r>
              <a:rPr lang="it-IT" sz="1050" dirty="0">
                <a:solidFill>
                  <a:srgbClr val="002060"/>
                </a:solidFill>
              </a:rPr>
              <a:t> &lt;/EtsiTs103097Certificate&gt;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46026B-E28E-5BD3-A749-02A52B942810}"/>
              </a:ext>
            </a:extLst>
          </p:cNvPr>
          <p:cNvSpPr txBox="1"/>
          <p:nvPr/>
        </p:nvSpPr>
        <p:spPr>
          <a:xfrm>
            <a:off x="749709" y="6439508"/>
            <a:ext cx="109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Matteo Pedone														 29 Ottobre 2024		 6/14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0F2C436-621A-6F37-5175-A5DE78AB2DF2}"/>
              </a:ext>
            </a:extLst>
          </p:cNvPr>
          <p:cNvSpPr txBox="1"/>
          <p:nvPr/>
        </p:nvSpPr>
        <p:spPr>
          <a:xfrm>
            <a:off x="8502179" y="6037580"/>
            <a:ext cx="21588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300" dirty="0">
                <a:solidFill>
                  <a:schemeClr val="accent2"/>
                </a:solidFill>
                <a:latin typeface="Abadi" panose="020B0604020104020204" pitchFamily="34" charset="0"/>
              </a:rPr>
              <a:t>Fig.2 – AT certificate </a:t>
            </a:r>
            <a:r>
              <a:rPr lang="it-IT" sz="1300" dirty="0" err="1">
                <a:solidFill>
                  <a:schemeClr val="accent2"/>
                </a:solidFill>
                <a:latin typeface="Abadi" panose="020B0604020104020204" pitchFamily="34" charset="0"/>
              </a:rPr>
              <a:t>profile</a:t>
            </a:r>
            <a:endParaRPr lang="it-IT" sz="1300" dirty="0">
              <a:solidFill>
                <a:schemeClr val="accent2"/>
              </a:solidFill>
              <a:latin typeface="Abadi" panose="020B0604020104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31C0C9A-FA2C-4A8F-CBDC-58B2776FEF2A}"/>
              </a:ext>
            </a:extLst>
          </p:cNvPr>
          <p:cNvSpPr txBox="1"/>
          <p:nvPr/>
        </p:nvSpPr>
        <p:spPr>
          <a:xfrm>
            <a:off x="1097280" y="1780110"/>
            <a:ext cx="666496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it-IT" dirty="0" err="1">
                <a:latin typeface="Abadi" panose="020B0604020104020204" pitchFamily="34" charset="0"/>
              </a:rPr>
              <a:t>ItsCertGen</a:t>
            </a:r>
            <a:r>
              <a:rPr lang="it-IT" dirty="0">
                <a:latin typeface="Abadi" panose="020B0604020104020204" pitchFamily="34" charset="0"/>
              </a:rPr>
              <a:t> tool:</a:t>
            </a:r>
          </a:p>
          <a:p>
            <a:pPr marL="285750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Modifica campi </a:t>
            </a:r>
            <a:r>
              <a:rPr lang="it-IT" dirty="0" err="1">
                <a:latin typeface="Abadi" panose="020B0604020104020204" pitchFamily="34" charset="0"/>
              </a:rPr>
              <a:t>verificationKey</a:t>
            </a:r>
            <a:r>
              <a:rPr lang="it-IT" dirty="0">
                <a:latin typeface="Abadi" panose="020B0604020104020204" pitchFamily="34" charset="0"/>
              </a:rPr>
              <a:t> e signature nei certificate </a:t>
            </a:r>
            <a:r>
              <a:rPr lang="it-IT" dirty="0" err="1">
                <a:latin typeface="Abadi" panose="020B0604020104020204" pitchFamily="34" charset="0"/>
              </a:rPr>
              <a:t>profile</a:t>
            </a:r>
            <a:endParaRPr lang="it-IT" dirty="0">
              <a:latin typeface="Abadi" panose="020B0604020104020204" pitchFamily="34" charset="0"/>
            </a:endParaRPr>
          </a:p>
          <a:p>
            <a:pPr marL="285750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Estensione delle definizioni di ASN.1 </a:t>
            </a:r>
            <a:r>
              <a:rPr lang="it-IT" dirty="0" err="1">
                <a:latin typeface="Abadi" panose="020B0604020104020204" pitchFamily="34" charset="0"/>
              </a:rPr>
              <a:t>module</a:t>
            </a:r>
            <a:r>
              <a:rPr lang="it-IT" dirty="0">
                <a:latin typeface="Abadi" panose="020B0604020104020204" pitchFamily="34" charset="0"/>
              </a:rPr>
              <a:t> files</a:t>
            </a:r>
          </a:p>
          <a:p>
            <a:pPr marL="285750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Generazione coppia di chiavi usando l’API di </a:t>
            </a:r>
            <a:r>
              <a:rPr lang="it-IT" dirty="0" err="1">
                <a:latin typeface="Abadi" panose="020B0604020104020204" pitchFamily="34" charset="0"/>
              </a:rPr>
              <a:t>liboqs</a:t>
            </a:r>
            <a:r>
              <a:rPr lang="it-IT" dirty="0">
                <a:latin typeface="Abadi" panose="020B0604020104020204" pitchFamily="34" charset="0"/>
              </a:rPr>
              <a:t> </a:t>
            </a:r>
            <a:r>
              <a:rPr lang="it-IT" b="1" i="1" u="none" strike="noStrike" baseline="0" dirty="0">
                <a:solidFill>
                  <a:schemeClr val="accent2"/>
                </a:solidFill>
                <a:latin typeface="Abadi" panose="020B0604020104020204" pitchFamily="34" charset="0"/>
              </a:rPr>
              <a:t>OQS_SIG_dilithium_2_keypair()</a:t>
            </a:r>
            <a:endParaRPr lang="en-US" b="1" i="1" u="none" strike="noStrike" baseline="0" dirty="0">
              <a:solidFill>
                <a:schemeClr val="accent2"/>
              </a:solidFill>
              <a:latin typeface="Abadi" panose="020B0604020104020204" pitchFamily="34" charset="0"/>
            </a:endParaRPr>
          </a:p>
          <a:p>
            <a:pPr marL="285750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Calcolo</a:t>
            </a:r>
            <a:r>
              <a:rPr lang="en-US" dirty="0">
                <a:latin typeface="Abadi" panose="020B0604020104020204" pitchFamily="34" charset="0"/>
              </a:rPr>
              <a:t> del joint hash del </a:t>
            </a:r>
            <a:r>
              <a:rPr lang="en-US" dirty="0" err="1">
                <a:latin typeface="Abadi" panose="020B0604020104020204" pitchFamily="34" charset="0"/>
              </a:rPr>
              <a:t>certificato</a:t>
            </a:r>
            <a:r>
              <a:rPr lang="en-US" dirty="0">
                <a:latin typeface="Abadi" panose="020B0604020104020204" pitchFamily="34" charset="0"/>
              </a:rPr>
              <a:t> (</a:t>
            </a:r>
            <a:r>
              <a:rPr lang="en-US" dirty="0" err="1">
                <a:latin typeface="Abadi" panose="020B0604020104020204" pitchFamily="34" charset="0"/>
              </a:rPr>
              <a:t>toBeSigned</a:t>
            </a:r>
            <a:r>
              <a:rPr lang="en-US" dirty="0">
                <a:latin typeface="Abadi" panose="020B0604020104020204" pitchFamily="34" charset="0"/>
              </a:rPr>
              <a:t> hash + signer hash)</a:t>
            </a:r>
          </a:p>
          <a:p>
            <a:pPr marL="285750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Calcolo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della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firma</a:t>
            </a:r>
            <a:r>
              <a:rPr lang="en-US" dirty="0">
                <a:latin typeface="Abadi" panose="020B0604020104020204" pitchFamily="34" charset="0"/>
              </a:rPr>
              <a:t> del </a:t>
            </a:r>
            <a:r>
              <a:rPr lang="en-US" dirty="0" err="1">
                <a:latin typeface="Abadi" panose="020B0604020104020204" pitchFamily="34" charset="0"/>
              </a:rPr>
              <a:t>certificato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usando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l’API</a:t>
            </a:r>
            <a:r>
              <a:rPr lang="en-US" dirty="0">
                <a:latin typeface="Abadi" panose="020B0604020104020204" pitchFamily="34" charset="0"/>
              </a:rPr>
              <a:t> di </a:t>
            </a:r>
            <a:r>
              <a:rPr lang="en-US" dirty="0" err="1">
                <a:latin typeface="Abadi" panose="020B0604020104020204" pitchFamily="34" charset="0"/>
              </a:rPr>
              <a:t>liboqs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Abadi" panose="020B0604020104020204" pitchFamily="34" charset="0"/>
              </a:rPr>
              <a:t>O</a:t>
            </a:r>
            <a:r>
              <a:rPr lang="it-IT" b="1" i="1" u="none" strike="noStrike" baseline="0" dirty="0">
                <a:solidFill>
                  <a:schemeClr val="accent2"/>
                </a:solidFill>
                <a:latin typeface="Abadi" panose="020B0604020104020204" pitchFamily="34" charset="0"/>
              </a:rPr>
              <a:t>QS_SIG_dilithium_2_sign()</a:t>
            </a:r>
          </a:p>
          <a:p>
            <a:pPr marL="285750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Gli output del tool sono i certificati e le coppie di chiavi di Root Certificate Authority, </a:t>
            </a:r>
            <a:r>
              <a:rPr lang="it-IT" dirty="0" err="1">
                <a:latin typeface="Abadi" panose="020B0604020104020204" pitchFamily="34" charset="0"/>
              </a:rPr>
              <a:t>AuthZ</a:t>
            </a:r>
            <a:r>
              <a:rPr lang="it-IT" dirty="0">
                <a:latin typeface="Abadi" panose="020B0604020104020204" pitchFamily="34" charset="0"/>
              </a:rPr>
              <a:t> Authority, e </a:t>
            </a:r>
            <a:r>
              <a:rPr lang="it-IT" dirty="0" err="1">
                <a:latin typeface="Abadi" panose="020B0604020104020204" pitchFamily="34" charset="0"/>
              </a:rPr>
              <a:t>AuthZ</a:t>
            </a:r>
            <a:r>
              <a:rPr lang="it-IT" dirty="0">
                <a:latin typeface="Abadi" panose="020B0604020104020204" pitchFamily="34" charset="0"/>
              </a:rPr>
              <a:t> Ticket.</a:t>
            </a:r>
          </a:p>
        </p:txBody>
      </p:sp>
    </p:spTree>
    <p:extLst>
      <p:ext uri="{BB962C8B-B14F-4D97-AF65-F5344CB8AC3E}">
        <p14:creationId xmlns:p14="http://schemas.microsoft.com/office/powerpoint/2010/main" val="1147898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16FF1-3EB7-10EA-356C-B4F177ADC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C458EC-BF38-43A0-153E-F1C3C585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accent2"/>
                </a:solidFill>
                <a:latin typeface="Abadi" panose="020B0604020104020204" pitchFamily="34" charset="0"/>
              </a:rPr>
              <a:t>Generazione di CAM non-standard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05D4225-743B-9D94-0BD0-419F198C49C2}"/>
              </a:ext>
            </a:extLst>
          </p:cNvPr>
          <p:cNvSpPr txBox="1"/>
          <p:nvPr/>
        </p:nvSpPr>
        <p:spPr>
          <a:xfrm>
            <a:off x="749709" y="6439508"/>
            <a:ext cx="109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Matteo Pedone														 29 Ottobre 2024		 7/14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3951788-081A-1CE0-4306-86D32006493B}"/>
              </a:ext>
            </a:extLst>
          </p:cNvPr>
          <p:cNvSpPr txBox="1"/>
          <p:nvPr/>
        </p:nvSpPr>
        <p:spPr>
          <a:xfrm>
            <a:off x="1097280" y="1950720"/>
            <a:ext cx="10058400" cy="212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it-IT" dirty="0" err="1">
                <a:latin typeface="Abadi" panose="020B0604020104020204" pitchFamily="34" charset="0"/>
              </a:rPr>
              <a:t>FsMsgGen</a:t>
            </a:r>
            <a:r>
              <a:rPr lang="it-IT" dirty="0">
                <a:latin typeface="Abadi" panose="020B0604020104020204" pitchFamily="34" charset="0"/>
              </a:rPr>
              <a:t> tool: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Inizializzazione dei parametri del messaggio CAM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Integrazione dei certificati ottenuti da </a:t>
            </a:r>
            <a:r>
              <a:rPr lang="it-IT" dirty="0" err="1">
                <a:latin typeface="Abadi" panose="020B0604020104020204" pitchFamily="34" charset="0"/>
              </a:rPr>
              <a:t>ItsCertGen</a:t>
            </a:r>
            <a:r>
              <a:rPr lang="it-IT" dirty="0">
                <a:latin typeface="Abadi" panose="020B0604020104020204" pitchFamily="34" charset="0"/>
              </a:rPr>
              <a:t> nel framework </a:t>
            </a:r>
            <a:r>
              <a:rPr lang="it-IT" dirty="0" err="1">
                <a:latin typeface="Abadi" panose="020B0604020104020204" pitchFamily="34" charset="0"/>
              </a:rPr>
              <a:t>FsMsgGen</a:t>
            </a:r>
            <a:endParaRPr lang="it-IT" dirty="0">
              <a:latin typeface="Abadi" panose="020B0604020104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Firma e invio dei messaggi CAM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it-IT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054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47488-7FAB-C520-9F40-6210EA451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2DFBF4-1831-1574-8784-FFE53FDA4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accent2"/>
                </a:solidFill>
                <a:latin typeface="Abadi" panose="020B0604020104020204" pitchFamily="34" charset="0"/>
              </a:rPr>
              <a:t>Integrazione e verifica certificati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CC4C798-36F7-66F5-9E0B-C4F91D80C0DE}"/>
              </a:ext>
            </a:extLst>
          </p:cNvPr>
          <p:cNvSpPr txBox="1"/>
          <p:nvPr/>
        </p:nvSpPr>
        <p:spPr>
          <a:xfrm>
            <a:off x="749709" y="6439508"/>
            <a:ext cx="109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Matteo Pedone														 29 Ottobre 2024		 8/14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ABF92F0-B121-BF95-9F21-CF3067858EC9}"/>
              </a:ext>
            </a:extLst>
          </p:cNvPr>
          <p:cNvSpPr txBox="1"/>
          <p:nvPr/>
        </p:nvSpPr>
        <p:spPr>
          <a:xfrm>
            <a:off x="1168400" y="1950720"/>
            <a:ext cx="9987280" cy="3372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t-IT" dirty="0">
                <a:latin typeface="Abadi" panose="020B0604020104020204" pitchFamily="34" charset="0"/>
              </a:rPr>
              <a:t>Elaborazione di ciascun certificato con una funzione progettata per eseguire le operazioni previste da un metodo </a:t>
            </a:r>
            <a:r>
              <a:rPr lang="it-IT" dirty="0" err="1">
                <a:latin typeface="Abadi" panose="020B0604020104020204" pitchFamily="34" charset="0"/>
              </a:rPr>
              <a:t>FitSec</a:t>
            </a:r>
            <a:r>
              <a:rPr lang="it-IT" dirty="0">
                <a:latin typeface="Abadi" panose="020B0604020104020204" pitchFamily="34" charset="0"/>
              </a:rPr>
              <a:t>, il cui codice non è disponibile: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Passando come parametri la sequenza di byte del certificato, le chiavi e alcuni flag;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Tradurre questa sequenza di byte in una struttura ben definita, che segua sia lo standard ETSI TS 103 097 sia le nuove implementazioni per la chiave di verifica e la firma;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Verificare la firma del certificato per garantire integrità e autenticità, utilizzando </a:t>
            </a:r>
            <a:r>
              <a:rPr lang="it-IT" b="1" i="1" dirty="0">
                <a:solidFill>
                  <a:schemeClr val="accent2"/>
                </a:solidFill>
                <a:latin typeface="Abadi" panose="020B0604020104020204" pitchFamily="34" charset="0"/>
              </a:rPr>
              <a:t>OQS_SIG_dilithium_2_verify() </a:t>
            </a:r>
            <a:r>
              <a:rPr lang="it-IT" dirty="0">
                <a:latin typeface="Abadi" panose="020B0604020104020204" pitchFamily="34" charset="0"/>
              </a:rPr>
              <a:t>, un'API di </a:t>
            </a:r>
            <a:r>
              <a:rPr lang="it-IT" dirty="0" err="1">
                <a:latin typeface="Abadi" panose="020B0604020104020204" pitchFamily="34" charset="0"/>
              </a:rPr>
              <a:t>liboqs</a:t>
            </a:r>
            <a:r>
              <a:rPr lang="it-IT" dirty="0">
                <a:latin typeface="Abadi" panose="020B0604020104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it-IT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968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24250-A4C1-306C-4D9E-D5DBB51A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E2CAF4-5712-E135-CA2A-053F7769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accent2"/>
                </a:solidFill>
                <a:latin typeface="Abadi" panose="020B0604020104020204" pitchFamily="34" charset="0"/>
              </a:rPr>
              <a:t>Firma e invio di CAM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241555D-943D-505C-F962-B2D8E5FBFB75}"/>
              </a:ext>
            </a:extLst>
          </p:cNvPr>
          <p:cNvSpPr txBox="1"/>
          <p:nvPr/>
        </p:nvSpPr>
        <p:spPr>
          <a:xfrm>
            <a:off x="749709" y="6439508"/>
            <a:ext cx="109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Matteo Pedone														 29 Ottobre 2024		 9/14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36E1159-26FA-A167-986A-26FDA0F66E0D}"/>
              </a:ext>
            </a:extLst>
          </p:cNvPr>
          <p:cNvSpPr txBox="1"/>
          <p:nvPr/>
        </p:nvSpPr>
        <p:spPr>
          <a:xfrm>
            <a:off x="1209040" y="1910080"/>
            <a:ext cx="5273156" cy="4203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Firmare il messaggio significa firmare il suo </a:t>
            </a:r>
            <a:r>
              <a:rPr lang="it-IT" dirty="0" err="1">
                <a:latin typeface="Abadi" panose="020B0604020104020204" pitchFamily="34" charset="0"/>
              </a:rPr>
              <a:t>hash</a:t>
            </a:r>
            <a:r>
              <a:rPr lang="it-IT" dirty="0">
                <a:latin typeface="Abadi" panose="020B0604020104020204" pitchFamily="34" charset="0"/>
              </a:rPr>
              <a:t>, in particolare l'</a:t>
            </a:r>
            <a:r>
              <a:rPr lang="it-IT" dirty="0" err="1">
                <a:latin typeface="Abadi" panose="020B0604020104020204" pitchFamily="34" charset="0"/>
              </a:rPr>
              <a:t>hash</a:t>
            </a:r>
            <a:r>
              <a:rPr lang="it-IT" dirty="0">
                <a:latin typeface="Abadi" panose="020B0604020104020204" pitchFamily="34" charset="0"/>
              </a:rPr>
              <a:t> della sezione </a:t>
            </a:r>
            <a:r>
              <a:rPr lang="it-IT" dirty="0" err="1">
                <a:latin typeface="Abadi" panose="020B0604020104020204" pitchFamily="34" charset="0"/>
              </a:rPr>
              <a:t>unsecuredData</a:t>
            </a:r>
            <a:r>
              <a:rPr lang="it-IT" dirty="0">
                <a:latin typeface="Abadi" panose="020B0604020104020204" pitchFamily="34" charset="0"/>
              </a:rPr>
              <a:t> che comprende: </a:t>
            </a:r>
            <a:r>
              <a:rPr lang="it-IT" dirty="0" err="1">
                <a:latin typeface="Abadi" panose="020B0604020104020204" pitchFamily="34" charset="0"/>
              </a:rPr>
              <a:t>CommonHeader</a:t>
            </a:r>
            <a:r>
              <a:rPr lang="it-IT" dirty="0">
                <a:latin typeface="Abadi" panose="020B0604020104020204" pitchFamily="34" charset="0"/>
              </a:rPr>
              <a:t>, TSBP, BTP-B, </a:t>
            </a:r>
            <a:r>
              <a:rPr lang="it-IT" dirty="0" err="1">
                <a:latin typeface="Abadi" panose="020B0604020104020204" pitchFamily="34" charset="0"/>
              </a:rPr>
              <a:t>ItsPduHeader</a:t>
            </a:r>
            <a:r>
              <a:rPr lang="it-IT" dirty="0">
                <a:latin typeface="Abadi" panose="020B0604020104020204" pitchFamily="34" charset="0"/>
              </a:rPr>
              <a:t> e </a:t>
            </a:r>
            <a:r>
              <a:rPr lang="it-IT" dirty="0" err="1">
                <a:latin typeface="Abadi" panose="020B0604020104020204" pitchFamily="34" charset="0"/>
              </a:rPr>
              <a:t>CamPayload</a:t>
            </a:r>
            <a:endParaRPr lang="it-IT" dirty="0">
              <a:latin typeface="Abadi" panose="020B06040201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La funzione utilizzata è </a:t>
            </a:r>
            <a:r>
              <a:rPr lang="it-IT" b="1" i="1" dirty="0">
                <a:solidFill>
                  <a:schemeClr val="accent2"/>
                </a:solidFill>
                <a:latin typeface="Abadi" panose="020B0604020104020204" pitchFamily="34" charset="0"/>
              </a:rPr>
              <a:t>OQS_SIG_dilithium_2_sign()</a:t>
            </a:r>
            <a:r>
              <a:rPr lang="it-IT" dirty="0">
                <a:latin typeface="Abadi" panose="020B0604020104020204" pitchFamily="34" charset="0"/>
              </a:rPr>
              <a:t> 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I CAM vengono inviate ogni 100 </a:t>
            </a:r>
            <a:r>
              <a:rPr lang="it-IT" dirty="0" err="1">
                <a:latin typeface="Abadi" panose="020B0604020104020204" pitchFamily="34" charset="0"/>
              </a:rPr>
              <a:t>ms</a:t>
            </a:r>
            <a:r>
              <a:rPr lang="it-IT" dirty="0">
                <a:latin typeface="Abadi" panose="020B0604020104020204" pitchFamily="34" charset="0"/>
              </a:rPr>
              <a:t> e, una volta al secondo, il messaggio deve includere l'intero certificato. Negli altri messaggi, è presente solo il digest del certificato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5D88651-AACF-FF3E-FED5-1089D7744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196" y="2114086"/>
            <a:ext cx="4759947" cy="3268436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E043DF4-D530-7318-8DD4-515483385608}"/>
              </a:ext>
            </a:extLst>
          </p:cNvPr>
          <p:cNvSpPr txBox="1"/>
          <p:nvPr/>
        </p:nvSpPr>
        <p:spPr>
          <a:xfrm>
            <a:off x="7121400" y="5380923"/>
            <a:ext cx="348153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300" dirty="0">
                <a:solidFill>
                  <a:schemeClr val="accent2"/>
                </a:solidFill>
              </a:rPr>
              <a:t>Fig.3 – </a:t>
            </a:r>
            <a:r>
              <a:rPr lang="it-IT" sz="1300" dirty="0" err="1">
                <a:solidFill>
                  <a:schemeClr val="accent2"/>
                </a:solidFill>
              </a:rPr>
              <a:t>unsecuredData</a:t>
            </a:r>
            <a:r>
              <a:rPr lang="it-IT" sz="1300" dirty="0">
                <a:solidFill>
                  <a:schemeClr val="accent2"/>
                </a:solidFill>
              </a:rPr>
              <a:t> to </a:t>
            </a:r>
            <a:r>
              <a:rPr lang="it-IT" sz="1300" dirty="0" err="1">
                <a:solidFill>
                  <a:schemeClr val="accent2"/>
                </a:solidFill>
              </a:rPr>
              <a:t>sign</a:t>
            </a:r>
            <a:r>
              <a:rPr lang="it-IT" sz="1300" dirty="0">
                <a:solidFill>
                  <a:schemeClr val="accent2"/>
                </a:solidFill>
              </a:rPr>
              <a:t> in a standard CAM </a:t>
            </a:r>
          </a:p>
        </p:txBody>
      </p:sp>
    </p:spTree>
    <p:extLst>
      <p:ext uri="{BB962C8B-B14F-4D97-AF65-F5344CB8AC3E}">
        <p14:creationId xmlns:p14="http://schemas.microsoft.com/office/powerpoint/2010/main" val="382711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FF9FD-9DAF-03F4-5F3C-FEB15595C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B2485A-0D85-189E-168D-0DA94E73C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accent2"/>
                </a:solidFill>
                <a:latin typeface="Abadi" panose="020B0604020104020204" pitchFamily="34" charset="0"/>
              </a:rPr>
              <a:t>Osservazioni – dimensione messaggio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F6DE696-09A2-30FE-F2AD-36BB480BDBD2}"/>
              </a:ext>
            </a:extLst>
          </p:cNvPr>
          <p:cNvSpPr txBox="1"/>
          <p:nvPr/>
        </p:nvSpPr>
        <p:spPr>
          <a:xfrm>
            <a:off x="749709" y="6439508"/>
            <a:ext cx="109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Matteo Pedone														 29 Ottobre 2024		10/14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56FF89A-995A-732E-BEA9-CE92C94CD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682" y="1971387"/>
            <a:ext cx="6286998" cy="178610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BD0002D-B89E-1FCF-76AF-0FB4D62FB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682" y="4184883"/>
            <a:ext cx="6286998" cy="1827236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1D214696-2975-4490-381E-0380EA5D2D66}"/>
              </a:ext>
            </a:extLst>
          </p:cNvPr>
          <p:cNvSpPr txBox="1"/>
          <p:nvPr/>
        </p:nvSpPr>
        <p:spPr>
          <a:xfrm>
            <a:off x="6859005" y="3757494"/>
            <a:ext cx="231547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300" dirty="0">
                <a:solidFill>
                  <a:schemeClr val="accent2"/>
                </a:solidFill>
              </a:rPr>
              <a:t>Fig.4 - Standard </a:t>
            </a:r>
            <a:r>
              <a:rPr lang="it-IT" sz="1300" dirty="0" err="1">
                <a:solidFill>
                  <a:schemeClr val="accent2"/>
                </a:solidFill>
              </a:rPr>
              <a:t>CAMs</a:t>
            </a:r>
            <a:r>
              <a:rPr lang="it-IT" sz="1300" dirty="0">
                <a:solidFill>
                  <a:schemeClr val="accent2"/>
                </a:solidFill>
              </a:rPr>
              <a:t> </a:t>
            </a:r>
            <a:r>
              <a:rPr lang="it-IT" sz="1300" dirty="0" err="1">
                <a:solidFill>
                  <a:schemeClr val="accent2"/>
                </a:solidFill>
              </a:rPr>
              <a:t>captured</a:t>
            </a:r>
            <a:endParaRPr lang="it-IT" sz="1300" dirty="0">
              <a:solidFill>
                <a:schemeClr val="accent2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104FC4F-27A8-DE93-F588-32D7412F1579}"/>
              </a:ext>
            </a:extLst>
          </p:cNvPr>
          <p:cNvSpPr txBox="1"/>
          <p:nvPr/>
        </p:nvSpPr>
        <p:spPr>
          <a:xfrm>
            <a:off x="6747246" y="6012119"/>
            <a:ext cx="35399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300" dirty="0">
                <a:solidFill>
                  <a:schemeClr val="accent2"/>
                </a:solidFill>
              </a:rPr>
              <a:t>Fig.4 - Non-standard </a:t>
            </a:r>
            <a:r>
              <a:rPr lang="it-IT" sz="1300" dirty="0" err="1">
                <a:solidFill>
                  <a:schemeClr val="accent2"/>
                </a:solidFill>
              </a:rPr>
              <a:t>CAMs</a:t>
            </a:r>
            <a:r>
              <a:rPr lang="it-IT" sz="1300" dirty="0">
                <a:solidFill>
                  <a:schemeClr val="accent2"/>
                </a:solidFill>
              </a:rPr>
              <a:t> </a:t>
            </a:r>
            <a:r>
              <a:rPr lang="it-IT" sz="1300" dirty="0" err="1">
                <a:solidFill>
                  <a:schemeClr val="accent2"/>
                </a:solidFill>
              </a:rPr>
              <a:t>captured</a:t>
            </a:r>
            <a:endParaRPr lang="it-IT" sz="1300" dirty="0">
              <a:solidFill>
                <a:schemeClr val="accent2"/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2541BC2-E38A-1675-C197-14AF68C76B77}"/>
              </a:ext>
            </a:extLst>
          </p:cNvPr>
          <p:cNvSpPr txBox="1"/>
          <p:nvPr/>
        </p:nvSpPr>
        <p:spPr>
          <a:xfrm>
            <a:off x="1178560" y="1971387"/>
            <a:ext cx="34747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>
                <a:latin typeface="Abadi" panose="020B0604020104020204" pitchFamily="34" charset="0"/>
              </a:rPr>
              <a:t>Differenza di dimensioni tra i messaggi non-standard e               standard   </a:t>
            </a:r>
            <a:r>
              <a:rPr lang="it-IT" u="sng" dirty="0">
                <a:latin typeface="Abadi" panose="020B0604020104020204" pitchFamily="34" charset="0"/>
              </a:rPr>
              <a:t>significativa</a:t>
            </a:r>
          </a:p>
          <a:p>
            <a:pPr algn="just"/>
            <a:endParaRPr lang="it-IT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Dimensione messaggi con certificato </a:t>
            </a:r>
            <a:r>
              <a:rPr lang="it-IT" dirty="0" err="1">
                <a:latin typeface="Abadi" panose="020B0604020104020204" pitchFamily="34" charset="0"/>
              </a:rPr>
              <a:t>Dilithium</a:t>
            </a:r>
            <a:r>
              <a:rPr lang="it-IT" dirty="0">
                <a:latin typeface="Abadi" panose="020B0604020104020204" pitchFamily="34" charset="0"/>
              </a:rPr>
              <a:t> è circa </a:t>
            </a:r>
            <a:r>
              <a:rPr lang="it-IT" b="1" dirty="0">
                <a:solidFill>
                  <a:schemeClr val="accent2"/>
                </a:solidFill>
                <a:latin typeface="Abadi" panose="020B0604020104020204" pitchFamily="34" charset="0"/>
              </a:rPr>
              <a:t>17</a:t>
            </a:r>
            <a:r>
              <a:rPr lang="it-IT" dirty="0">
                <a:latin typeface="Abadi" panose="020B0604020104020204" pitchFamily="34" charset="0"/>
              </a:rPr>
              <a:t> volte più grande di quelli standard.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t-IT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Dimensione messaggi con digest del certificato </a:t>
            </a:r>
            <a:r>
              <a:rPr lang="it-IT" dirty="0" err="1">
                <a:latin typeface="Abadi" panose="020B0604020104020204" pitchFamily="34" charset="0"/>
              </a:rPr>
              <a:t>Dilithium</a:t>
            </a:r>
            <a:r>
              <a:rPr lang="it-IT" dirty="0">
                <a:latin typeface="Abadi" panose="020B0604020104020204" pitchFamily="34" charset="0"/>
              </a:rPr>
              <a:t> è circa </a:t>
            </a:r>
            <a:r>
              <a:rPr lang="it-IT" b="1" dirty="0">
                <a:solidFill>
                  <a:schemeClr val="accent2"/>
                </a:solidFill>
                <a:latin typeface="Abadi" panose="020B0604020104020204" pitchFamily="34" charset="0"/>
              </a:rPr>
              <a:t>13</a:t>
            </a:r>
            <a:r>
              <a:rPr lang="it-IT" dirty="0">
                <a:latin typeface="Abadi" panose="020B0604020104020204" pitchFamily="34" charset="0"/>
              </a:rPr>
              <a:t> volte più grande di quelli standard</a:t>
            </a:r>
          </a:p>
        </p:txBody>
      </p:sp>
    </p:spTree>
    <p:extLst>
      <p:ext uri="{BB962C8B-B14F-4D97-AF65-F5344CB8AC3E}">
        <p14:creationId xmlns:p14="http://schemas.microsoft.com/office/powerpoint/2010/main" val="2978717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83437-DB84-0A09-D88F-5DAA9BB6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5C504A-4D04-4FFE-DC4F-D79738657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accent2"/>
                </a:solidFill>
                <a:latin typeface="Abadi" panose="020B0604020104020204" pitchFamily="34" charset="0"/>
              </a:rPr>
              <a:t>Osservazioni – tempi di firma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947C272-BF67-3618-ED63-F83F2BB522C0}"/>
              </a:ext>
            </a:extLst>
          </p:cNvPr>
          <p:cNvSpPr txBox="1"/>
          <p:nvPr/>
        </p:nvSpPr>
        <p:spPr>
          <a:xfrm>
            <a:off x="749709" y="6439508"/>
            <a:ext cx="109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Matteo Pedone														 29 Ottobre 2024		11/14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AB4B465-61ED-D55D-6AB7-B6BC9E242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8816" y="2290204"/>
            <a:ext cx="7030717" cy="3196718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E4925B5-E81A-2911-72A2-C17E32EFD2F9}"/>
              </a:ext>
            </a:extLst>
          </p:cNvPr>
          <p:cNvSpPr txBox="1"/>
          <p:nvPr/>
        </p:nvSpPr>
        <p:spPr>
          <a:xfrm>
            <a:off x="6591296" y="2290204"/>
            <a:ext cx="35581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/>
                </a:solidFill>
              </a:rPr>
              <a:t>Fig.6 – Signature times </a:t>
            </a:r>
            <a:r>
              <a:rPr lang="it-IT" sz="1400" dirty="0" err="1">
                <a:solidFill>
                  <a:schemeClr val="accent2"/>
                </a:solidFill>
              </a:rPr>
              <a:t>graph</a:t>
            </a:r>
            <a:endParaRPr lang="it-IT" sz="1400" dirty="0">
              <a:solidFill>
                <a:schemeClr val="accent2"/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B718287-CB4B-549F-5B89-482DB895B9A3}"/>
              </a:ext>
            </a:extLst>
          </p:cNvPr>
          <p:cNvSpPr txBox="1"/>
          <p:nvPr/>
        </p:nvSpPr>
        <p:spPr>
          <a:xfrm>
            <a:off x="1097280" y="1923923"/>
            <a:ext cx="3171536" cy="3929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it-IT" b="1" dirty="0" err="1">
                <a:latin typeface="Abadi" panose="020B0604020104020204" pitchFamily="34" charset="0"/>
              </a:rPr>
              <a:t>Dilithium</a:t>
            </a:r>
            <a:r>
              <a:rPr lang="it-IT" dirty="0">
                <a:latin typeface="Abadi" panose="020B0604020104020204" pitchFamily="34" charset="0"/>
              </a:rPr>
              <a:t> è più veloce rispetto agli algoritmi della crittografia post-quantistica (PQC), ma è leggermente più lento della soluzione standard </a:t>
            </a:r>
            <a:r>
              <a:rPr lang="it-IT" dirty="0" err="1">
                <a:latin typeface="Abadi" panose="020B0604020104020204" pitchFamily="34" charset="0"/>
              </a:rPr>
              <a:t>Ecdsa</a:t>
            </a:r>
            <a:r>
              <a:rPr lang="it-IT" dirty="0">
                <a:latin typeface="Abadi" panose="020B0604020104020204" pitchFamily="34" charset="0"/>
              </a:rPr>
              <a:t>.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it-IT" dirty="0">
                <a:latin typeface="Abadi" panose="020B0604020104020204" pitchFamily="34" charset="0"/>
              </a:rPr>
              <a:t>I tempi medi in una finestra di campionamento di 2000 misurazioni sono:</a:t>
            </a:r>
          </a:p>
          <a:p>
            <a:pPr marL="285750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it-IT" dirty="0" err="1">
                <a:latin typeface="Abadi" panose="020B0604020104020204" pitchFamily="34" charset="0"/>
              </a:rPr>
              <a:t>Ecdsa</a:t>
            </a:r>
            <a:r>
              <a:rPr lang="it-IT" dirty="0">
                <a:latin typeface="Abadi" panose="020B0604020104020204" pitchFamily="34" charset="0"/>
              </a:rPr>
              <a:t>: 0.110 </a:t>
            </a:r>
            <a:r>
              <a:rPr lang="it-IT" dirty="0" err="1">
                <a:latin typeface="Abadi" panose="020B0604020104020204" pitchFamily="34" charset="0"/>
              </a:rPr>
              <a:t>ms</a:t>
            </a:r>
            <a:endParaRPr lang="it-IT" dirty="0">
              <a:latin typeface="Abadi" panose="020B0604020104020204" pitchFamily="34" charset="0"/>
            </a:endParaRPr>
          </a:p>
          <a:p>
            <a:pPr marL="285750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it-IT" dirty="0" err="1">
                <a:latin typeface="Abadi" panose="020B0604020104020204" pitchFamily="34" charset="0"/>
              </a:rPr>
              <a:t>Dilithium</a:t>
            </a:r>
            <a:r>
              <a:rPr lang="it-IT" dirty="0">
                <a:latin typeface="Abadi" panose="020B0604020104020204" pitchFamily="34" charset="0"/>
              </a:rPr>
              <a:t>: 0.302 </a:t>
            </a:r>
            <a:r>
              <a:rPr lang="it-IT" dirty="0" err="1">
                <a:latin typeface="Abadi" panose="020B0604020104020204" pitchFamily="34" charset="0"/>
              </a:rPr>
              <a:t>ms</a:t>
            </a:r>
            <a:endParaRPr lang="it-IT" dirty="0">
              <a:latin typeface="Abadi" panose="020B0604020104020204" pitchFamily="34" charset="0"/>
            </a:endParaRPr>
          </a:p>
          <a:p>
            <a:pPr marL="285750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Falcon: 0.584 </a:t>
            </a:r>
            <a:r>
              <a:rPr lang="it-IT" dirty="0" err="1">
                <a:latin typeface="Abadi" panose="020B0604020104020204" pitchFamily="34" charset="0"/>
              </a:rPr>
              <a:t>ms</a:t>
            </a:r>
            <a:endParaRPr lang="it-IT" dirty="0">
              <a:latin typeface="Abadi" panose="020B0604020104020204" pitchFamily="34" charset="0"/>
            </a:endParaRPr>
          </a:p>
          <a:p>
            <a:pPr marL="285750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it-IT" dirty="0" err="1">
                <a:latin typeface="Abadi" panose="020B0604020104020204" pitchFamily="34" charset="0"/>
              </a:rPr>
              <a:t>Sphincs</a:t>
            </a:r>
            <a:r>
              <a:rPr lang="it-IT" dirty="0">
                <a:latin typeface="Abadi" panose="020B0604020104020204" pitchFamily="34" charset="0"/>
              </a:rPr>
              <a:t>: 0.599 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5DE624B-3D7D-B7A1-A190-3DADD7DF723F}"/>
              </a:ext>
            </a:extLst>
          </p:cNvPr>
          <p:cNvSpPr txBox="1"/>
          <p:nvPr/>
        </p:nvSpPr>
        <p:spPr>
          <a:xfrm>
            <a:off x="5335614" y="5514649"/>
            <a:ext cx="4897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Abadi" panose="020B0604020104020204" pitchFamily="34" charset="0"/>
              </a:rPr>
              <a:t>Benchmark</a:t>
            </a:r>
            <a:r>
              <a:rPr lang="it-IT" sz="1600" dirty="0">
                <a:latin typeface="Abadi" panose="020B0604020104020204" pitchFamily="34" charset="0"/>
              </a:rPr>
              <a:t>: </a:t>
            </a:r>
            <a:r>
              <a:rPr lang="it-IT" sz="1600" b="0" i="0" u="none" strike="noStrike" baseline="0" dirty="0">
                <a:latin typeface="Abadi" panose="020B0604020104020204" pitchFamily="34" charset="0"/>
              </a:rPr>
              <a:t>a PC with Intel(R) Core(TM) i7-8565U CPU</a:t>
            </a:r>
            <a:endParaRPr lang="it-IT" sz="16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46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E14AE-CE91-3DA7-3CEA-D173A7426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BD921F-59C9-AFD9-1A81-8B80D5BCE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accent2"/>
                </a:solidFill>
                <a:latin typeface="Abadi" panose="020B0604020104020204" pitchFamily="34" charset="0"/>
              </a:rPr>
              <a:t>Conclusioni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9217C3E-E6D6-34FC-1C79-FF95C45E3ABC}"/>
              </a:ext>
            </a:extLst>
          </p:cNvPr>
          <p:cNvSpPr txBox="1"/>
          <p:nvPr/>
        </p:nvSpPr>
        <p:spPr>
          <a:xfrm>
            <a:off x="749709" y="6439508"/>
            <a:ext cx="109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Matteo Pedone														 29 Ottobre 2024		12/14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C79041E-2314-0DF0-52B1-D340E2EC4880}"/>
              </a:ext>
            </a:extLst>
          </p:cNvPr>
          <p:cNvSpPr txBox="1"/>
          <p:nvPr/>
        </p:nvSpPr>
        <p:spPr>
          <a:xfrm>
            <a:off x="1097280" y="1951672"/>
            <a:ext cx="10058400" cy="212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La significativa differenza di dimensioni tra i messaggi standard e non-standard può portare a ritardi in trasmissione, maggiore carico del canale di comunicazione e la necessità di On Board Unit con una memoria più grande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dirty="0">
              <a:latin typeface="Abadi" panose="020B0604020104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I tempi di firma della versione implementata sono comparabili con quelli della versione standard</a:t>
            </a:r>
          </a:p>
        </p:txBody>
      </p:sp>
    </p:spTree>
    <p:extLst>
      <p:ext uri="{BB962C8B-B14F-4D97-AF65-F5344CB8AC3E}">
        <p14:creationId xmlns:p14="http://schemas.microsoft.com/office/powerpoint/2010/main" val="1732225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475C-B70D-C2F2-0E54-59439EF0C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57928C-A216-F722-C702-C03C27683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accent2"/>
                </a:solidFill>
                <a:latin typeface="Abadi" panose="020B0604020104020204" pitchFamily="34" charset="0"/>
              </a:rPr>
              <a:t>Sviluppi futuri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443CD9D-2A7D-60CD-FE12-9858429F71C2}"/>
              </a:ext>
            </a:extLst>
          </p:cNvPr>
          <p:cNvSpPr txBox="1"/>
          <p:nvPr/>
        </p:nvSpPr>
        <p:spPr>
          <a:xfrm>
            <a:off x="749709" y="6439508"/>
            <a:ext cx="109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Matteo Pedone														 29 Ottobre 2024		13/14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5737BF4-4C89-537D-153B-0BC776F50A2D}"/>
              </a:ext>
            </a:extLst>
          </p:cNvPr>
          <p:cNvSpPr txBox="1"/>
          <p:nvPr/>
        </p:nvSpPr>
        <p:spPr>
          <a:xfrm>
            <a:off x="1198880" y="1981200"/>
            <a:ext cx="9956800" cy="3372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Gestire le dimensioni maggiori dei messaggi CAM non standard, con operazioni come frammentazione, segmentazione, caching, compressione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Emulazione di uno scenario reale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Implementazione della fase di ricezione 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Studio della larghezza di banda del traffico di rete 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Estensioni PQC per diversi tipi di messaggi 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PQC per </a:t>
            </a:r>
            <a:r>
              <a:rPr lang="it-IT" dirty="0" err="1">
                <a:latin typeface="Abadi" panose="020B0604020104020204" pitchFamily="34" charset="0"/>
              </a:rPr>
              <a:t>encryption</a:t>
            </a:r>
            <a:r>
              <a:rPr lang="it-IT" dirty="0">
                <a:latin typeface="Abadi" panose="020B0604020104020204" pitchFamily="34" charset="0"/>
              </a:rPr>
              <a:t> e </a:t>
            </a:r>
            <a:r>
              <a:rPr lang="it-IT" dirty="0" err="1">
                <a:latin typeface="Abadi" panose="020B0604020104020204" pitchFamily="34" charset="0"/>
              </a:rPr>
              <a:t>decryption</a:t>
            </a:r>
            <a:r>
              <a:rPr lang="it-IT" dirty="0">
                <a:latin typeface="Abadi" panose="020B0604020104020204" pitchFamily="34" charset="0"/>
              </a:rPr>
              <a:t> dei messaggi CAM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Abadi" panose="020B0604020104020204" pitchFamily="34" charset="0"/>
              </a:rPr>
              <a:t>Analisi di come la dimensione varia con diversi algoritmi PQC</a:t>
            </a:r>
          </a:p>
        </p:txBody>
      </p:sp>
    </p:spTree>
    <p:extLst>
      <p:ext uri="{BB962C8B-B14F-4D97-AF65-F5344CB8AC3E}">
        <p14:creationId xmlns:p14="http://schemas.microsoft.com/office/powerpoint/2010/main" val="3479084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B4C08-601B-2EC6-EEF2-507E1F52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3B0D36-32D9-0A17-5C9E-C2EC319AA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978243"/>
            <a:ext cx="10058400" cy="1450757"/>
          </a:xfrm>
        </p:spPr>
        <p:txBody>
          <a:bodyPr/>
          <a:lstStyle/>
          <a:p>
            <a:pPr algn="ctr"/>
            <a:r>
              <a:rPr lang="it-IT" b="1" dirty="0">
                <a:solidFill>
                  <a:schemeClr val="accent2"/>
                </a:solidFill>
                <a:latin typeface="Abadi" panose="020B0604020104020204" pitchFamily="34" charset="0"/>
              </a:rPr>
              <a:t>GRAZIE PER L’ATTENZIONE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294AF4F-E581-7797-88E3-9569A7293BB2}"/>
              </a:ext>
            </a:extLst>
          </p:cNvPr>
          <p:cNvSpPr txBox="1"/>
          <p:nvPr/>
        </p:nvSpPr>
        <p:spPr>
          <a:xfrm>
            <a:off x="749709" y="6439508"/>
            <a:ext cx="109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Matteo Pedone														 29 Ottobre 2024		14/14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7F76DFCB-A581-CC53-CA21-240227AA3292}"/>
              </a:ext>
            </a:extLst>
          </p:cNvPr>
          <p:cNvCxnSpPr>
            <a:cxnSpLocks/>
          </p:cNvCxnSpPr>
          <p:nvPr/>
        </p:nvCxnSpPr>
        <p:spPr>
          <a:xfrm>
            <a:off x="1188720" y="1737360"/>
            <a:ext cx="1005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66531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Personalizzato 8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FFFFFF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743</TotalTime>
  <Words>1435</Words>
  <Application>Microsoft Office PowerPoint</Application>
  <PresentationFormat>Widescreen</PresentationFormat>
  <Paragraphs>138</Paragraphs>
  <Slides>14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0" baseType="lpstr">
      <vt:lpstr>Abadi</vt:lpstr>
      <vt:lpstr>Aptos</vt:lpstr>
      <vt:lpstr>Arial</vt:lpstr>
      <vt:lpstr>Calibri</vt:lpstr>
      <vt:lpstr>Calibri Light</vt:lpstr>
      <vt:lpstr>Retrospettivo</vt:lpstr>
      <vt:lpstr>Presentazione standard di PowerPoint</vt:lpstr>
      <vt:lpstr>Contesto – V2X</vt:lpstr>
      <vt:lpstr>Contesto – PQC</vt:lpstr>
      <vt:lpstr>Obiettivi della Tesi</vt:lpstr>
      <vt:lpstr>Tools e librerie usate </vt:lpstr>
      <vt:lpstr>Generazione di certificati che supportano chiavi e firme Dilithium</vt:lpstr>
      <vt:lpstr>Generazione di CAM non-standard</vt:lpstr>
      <vt:lpstr>Integrazione e verifica certificati</vt:lpstr>
      <vt:lpstr>Firma e invio di CAM</vt:lpstr>
      <vt:lpstr>Osservazioni – dimensione messaggio</vt:lpstr>
      <vt:lpstr>Osservazioni – tempi di firma</vt:lpstr>
      <vt:lpstr>Conclusioni</vt:lpstr>
      <vt:lpstr>Sviluppi futuri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Pedone  Matteo</dc:creator>
  <cp:lastModifiedBy>Pedone  Matteo</cp:lastModifiedBy>
  <cp:revision>6</cp:revision>
  <dcterms:created xsi:type="dcterms:W3CDTF">2024-10-20T08:59:32Z</dcterms:created>
  <dcterms:modified xsi:type="dcterms:W3CDTF">2024-10-28T12:16:12Z</dcterms:modified>
</cp:coreProperties>
</file>