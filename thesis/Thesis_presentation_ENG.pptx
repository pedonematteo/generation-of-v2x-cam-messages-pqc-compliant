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7" r:id="rId4"/>
    <p:sldId id="272" r:id="rId5"/>
    <p:sldId id="273" r:id="rId6"/>
    <p:sldId id="262" r:id="rId7"/>
    <p:sldId id="275" r:id="rId8"/>
    <p:sldId id="274" r:id="rId9"/>
    <p:sldId id="263" r:id="rId10"/>
    <p:sldId id="264" r:id="rId11"/>
    <p:sldId id="268" r:id="rId12"/>
    <p:sldId id="269" r:id="rId13"/>
    <p:sldId id="271" r:id="rId14"/>
    <p:sldId id="279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A4C4"/>
    <a:srgbClr val="467E3E"/>
    <a:srgbClr val="003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483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166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030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90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8133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71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62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06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32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61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66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702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793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777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0277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893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A6344-EF95-49F2-A6AA-C25C75C9041A}" type="datetimeFigureOut">
              <a:rPr lang="it-IT" smtClean="0"/>
              <a:t>10/10/2024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59BD0-A9E1-418C-98E7-58AD45FECD2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495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m.pedone2000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04525-5486-C464-E455-0634AE138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2340" y="1816537"/>
            <a:ext cx="7907319" cy="3224926"/>
          </a:xfrm>
        </p:spPr>
        <p:txBody>
          <a:bodyPr/>
          <a:lstStyle/>
          <a:p>
            <a:pPr algn="l"/>
            <a:r>
              <a:rPr lang="en-US" sz="5000" b="1" i="0" dirty="0">
                <a:effectLst/>
                <a:latin typeface="open sans" panose="020B0606030504020204" pitchFamily="34" charset="0"/>
              </a:rPr>
              <a:t>Implementation of </a:t>
            </a:r>
            <a:br>
              <a:rPr lang="en-US" sz="5000" b="1" i="0" dirty="0">
                <a:effectLst/>
                <a:latin typeface="open sans" panose="020B0606030504020204" pitchFamily="34" charset="0"/>
              </a:rPr>
            </a:br>
            <a:r>
              <a:rPr lang="en-US" sz="5000" b="1" i="0" dirty="0">
                <a:effectLst/>
                <a:latin typeface="open sans" panose="020B0606030504020204" pitchFamily="34" charset="0"/>
              </a:rPr>
              <a:t>Non-Standard Digital Signature Method in V2X Environments</a:t>
            </a:r>
            <a:endParaRPr lang="it-IT" sz="5000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0729B75-A1D6-F349-79D1-2576789CA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1570" y="5041463"/>
            <a:ext cx="7766936" cy="1096899"/>
          </a:xfrm>
        </p:spPr>
        <p:txBody>
          <a:bodyPr>
            <a:normAutofit/>
          </a:bodyPr>
          <a:lstStyle/>
          <a:p>
            <a:r>
              <a:rPr lang="it-IT" sz="2800" b="1" dirty="0">
                <a:solidFill>
                  <a:srgbClr val="003156"/>
                </a:solidFill>
              </a:rPr>
              <a:t>Matteo Pedone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581182E-0EFD-5F0D-6209-AA0BD47D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391" y="105074"/>
            <a:ext cx="1947602" cy="857158"/>
          </a:xfrm>
          <a:prstGeom prst="rect">
            <a:avLst/>
          </a:prstGeom>
        </p:spPr>
      </p:pic>
      <p:pic>
        <p:nvPicPr>
          <p:cNvPr id="8" name="Immagine 7" descr="Immagine che contiene Carattere, testo, schermata, Elementi grafici&#10;&#10;Descrizione generata automaticamente">
            <a:extLst>
              <a:ext uri="{FF2B5EF4-FFF2-40B4-BE49-F238E27FC236}">
                <a16:creationId xmlns:a16="http://schemas.microsoft.com/office/drawing/2014/main" id="{CF83882F-F0BD-65D1-0510-139E75508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75" y="343398"/>
            <a:ext cx="2813310" cy="51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9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644718-930E-1747-C42F-34C4F09A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V2X </a:t>
            </a:r>
            <a:r>
              <a:rPr lang="it-IT" dirty="0" err="1"/>
              <a:t>communication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FC897F05-E8A7-F1EA-E9B6-ADC723C512E0}"/>
              </a:ext>
            </a:extLst>
          </p:cNvPr>
          <p:cNvSpPr txBox="1">
            <a:spLocks/>
          </p:cNvSpPr>
          <p:nvPr/>
        </p:nvSpPr>
        <p:spPr>
          <a:xfrm>
            <a:off x="1333502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it-IT" dirty="0"/>
              <a:t>V2X </a:t>
            </a:r>
            <a:r>
              <a:rPr lang="it-IT" dirty="0" err="1"/>
              <a:t>communication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4EAF21C-DCFB-251E-6A25-DA2D0627B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697" y="437899"/>
            <a:ext cx="3141406" cy="163745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90B61F-F481-AD86-5F4C-6BE8F324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1" y="2247058"/>
            <a:ext cx="8695401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800" dirty="0"/>
              <a:t>The </a:t>
            </a:r>
            <a:r>
              <a:rPr lang="it-IT" sz="1800" b="1" dirty="0"/>
              <a:t>V2X </a:t>
            </a:r>
            <a:r>
              <a:rPr lang="it-IT" sz="1800" b="1" dirty="0" err="1"/>
              <a:t>communication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a </a:t>
            </a:r>
            <a:r>
              <a:rPr lang="it-IT" sz="1800" dirty="0" err="1"/>
              <a:t>node</a:t>
            </a:r>
            <a:r>
              <a:rPr lang="it-IT" sz="1800" dirty="0"/>
              <a:t>-to-</a:t>
            </a:r>
            <a:r>
              <a:rPr lang="it-IT" sz="1800" dirty="0" err="1"/>
              <a:t>node</a:t>
            </a:r>
            <a:r>
              <a:rPr lang="it-IT" sz="1800" dirty="0"/>
              <a:t> </a:t>
            </a:r>
            <a:r>
              <a:rPr lang="it-IT" sz="1800" dirty="0" err="1"/>
              <a:t>communication</a:t>
            </a:r>
            <a:r>
              <a:rPr lang="it-IT" sz="1800" dirty="0"/>
              <a:t>, </a:t>
            </a:r>
            <a:r>
              <a:rPr lang="it-IT" sz="1800" dirty="0" err="1"/>
              <a:t>where</a:t>
            </a:r>
            <a:r>
              <a:rPr lang="it-IT" sz="1800" dirty="0"/>
              <a:t> </a:t>
            </a:r>
            <a:r>
              <a:rPr lang="it-IT" sz="1800" dirty="0" err="1"/>
              <a:t>each</a:t>
            </a:r>
            <a:r>
              <a:rPr lang="it-IT" sz="1800" dirty="0"/>
              <a:t> </a:t>
            </a:r>
            <a:r>
              <a:rPr lang="it-IT" sz="1800" dirty="0" err="1"/>
              <a:t>node</a:t>
            </a:r>
            <a:r>
              <a:rPr lang="it-IT" sz="1800" dirty="0"/>
              <a:t> </a:t>
            </a:r>
            <a:r>
              <a:rPr lang="it-IT" sz="1800" dirty="0" err="1"/>
              <a:t>exchanges</a:t>
            </a:r>
            <a:r>
              <a:rPr lang="it-IT" sz="1800" dirty="0"/>
              <a:t> information with the </a:t>
            </a:r>
            <a:r>
              <a:rPr lang="it-IT" sz="1800" dirty="0" err="1"/>
              <a:t>others</a:t>
            </a:r>
            <a:r>
              <a:rPr lang="it-IT" sz="1800" dirty="0"/>
              <a:t> in a short </a:t>
            </a:r>
            <a:r>
              <a:rPr lang="it-IT" sz="1800" dirty="0" err="1"/>
              <a:t>timeframe</a:t>
            </a:r>
            <a:r>
              <a:rPr lang="it-IT" sz="1800" dirty="0"/>
              <a:t>.</a:t>
            </a:r>
          </a:p>
          <a:p>
            <a:pPr>
              <a:lnSpc>
                <a:spcPct val="90000"/>
              </a:lnSpc>
            </a:pPr>
            <a:r>
              <a:rPr lang="it-IT" dirty="0"/>
              <a:t>The </a:t>
            </a:r>
            <a:r>
              <a:rPr lang="it-IT" dirty="0" err="1"/>
              <a:t>entities</a:t>
            </a:r>
            <a:r>
              <a:rPr lang="it-IT" dirty="0"/>
              <a:t> </a:t>
            </a:r>
            <a:r>
              <a:rPr lang="it-IT" dirty="0" err="1"/>
              <a:t>involved</a:t>
            </a:r>
            <a:r>
              <a:rPr lang="it-IT" dirty="0"/>
              <a:t> in the </a:t>
            </a:r>
            <a:r>
              <a:rPr lang="it-IT" dirty="0" err="1"/>
              <a:t>vehicular</a:t>
            </a:r>
            <a:r>
              <a:rPr lang="it-IT" dirty="0"/>
              <a:t> network are OBU, RSU, TA.</a:t>
            </a:r>
          </a:p>
          <a:p>
            <a:pPr>
              <a:lnSpc>
                <a:spcPct val="90000"/>
              </a:lnSpc>
            </a:pPr>
            <a:r>
              <a:rPr lang="it-IT" sz="1800" dirty="0" err="1"/>
              <a:t>Vehicular</a:t>
            </a:r>
            <a:r>
              <a:rPr lang="it-IT" sz="1800" dirty="0"/>
              <a:t> </a:t>
            </a:r>
            <a:r>
              <a:rPr lang="it-IT" sz="1800" dirty="0" err="1"/>
              <a:t>communication</a:t>
            </a:r>
            <a:r>
              <a:rPr lang="it-IT" sz="1800" dirty="0"/>
              <a:t> can operate </a:t>
            </a:r>
            <a:r>
              <a:rPr lang="it-IT" sz="1800" dirty="0" err="1"/>
              <a:t>at</a:t>
            </a:r>
            <a:r>
              <a:rPr lang="it-IT" sz="1800" dirty="0"/>
              <a:t> </a:t>
            </a:r>
            <a:r>
              <a:rPr lang="it-IT" sz="1800" dirty="0" err="1"/>
              <a:t>two</a:t>
            </a:r>
            <a:r>
              <a:rPr lang="it-IT" sz="1800" dirty="0"/>
              <a:t> </a:t>
            </a:r>
            <a:r>
              <a:rPr lang="it-IT" sz="1800" dirty="0" err="1"/>
              <a:t>different</a:t>
            </a:r>
            <a:r>
              <a:rPr lang="it-IT" sz="1800" dirty="0"/>
              <a:t> </a:t>
            </a:r>
            <a:r>
              <a:rPr lang="it-IT" sz="1800" dirty="0" err="1"/>
              <a:t>levels</a:t>
            </a:r>
            <a:r>
              <a:rPr lang="it-IT" sz="1800" dirty="0"/>
              <a:t>:                    Short-range </a:t>
            </a:r>
            <a:r>
              <a:rPr lang="it-IT" sz="1800" dirty="0" err="1"/>
              <a:t>communications</a:t>
            </a:r>
            <a:r>
              <a:rPr lang="it-IT" sz="1800" dirty="0"/>
              <a:t> </a:t>
            </a:r>
            <a:r>
              <a:rPr lang="it-IT" sz="1800" dirty="0" err="1"/>
              <a:t>where</a:t>
            </a:r>
            <a:r>
              <a:rPr lang="it-IT" sz="1800" dirty="0"/>
              <a:t> the </a:t>
            </a:r>
            <a:r>
              <a:rPr lang="it-IT" sz="1800" dirty="0" err="1"/>
              <a:t>main</a:t>
            </a:r>
            <a:r>
              <a:rPr lang="it-IT" sz="1800" dirty="0"/>
              <a:t> standards ar</a:t>
            </a:r>
            <a:r>
              <a:rPr lang="it-IT" dirty="0"/>
              <a:t>e </a:t>
            </a:r>
            <a:r>
              <a:rPr lang="it-IT" b="1" dirty="0"/>
              <a:t>DSRC </a:t>
            </a:r>
            <a:r>
              <a:rPr lang="it-IT" dirty="0"/>
              <a:t>(</a:t>
            </a:r>
            <a:r>
              <a:rPr lang="it-IT" dirty="0" err="1"/>
              <a:t>Dedicated</a:t>
            </a:r>
            <a:r>
              <a:rPr lang="it-IT" dirty="0"/>
              <a:t> Short-Range Communications) and </a:t>
            </a:r>
            <a:r>
              <a:rPr lang="it-IT" b="1" dirty="0"/>
              <a:t>C-ITS </a:t>
            </a:r>
            <a:r>
              <a:rPr lang="it-IT" dirty="0"/>
              <a:t>(Cooperative </a:t>
            </a:r>
            <a:r>
              <a:rPr lang="it-IT" dirty="0" err="1"/>
              <a:t>Intelligent</a:t>
            </a:r>
            <a:r>
              <a:rPr lang="it-IT" dirty="0"/>
              <a:t> </a:t>
            </a:r>
            <a:r>
              <a:rPr lang="it-IT" dirty="0" err="1"/>
              <a:t>Transport</a:t>
            </a:r>
            <a:r>
              <a:rPr lang="it-IT" dirty="0"/>
              <a:t> Systems).																 Long-range </a:t>
            </a:r>
            <a:r>
              <a:rPr lang="it-IT" dirty="0" err="1"/>
              <a:t>communications</a:t>
            </a:r>
            <a:r>
              <a:rPr lang="it-IT" dirty="0"/>
              <a:t>,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primary</a:t>
            </a:r>
            <a:r>
              <a:rPr lang="it-IT" dirty="0"/>
              <a:t> standard </a:t>
            </a:r>
            <a:r>
              <a:rPr lang="it-IT" dirty="0" err="1"/>
              <a:t>is</a:t>
            </a:r>
            <a:r>
              <a:rPr lang="it-IT" dirty="0"/>
              <a:t> LTE V2X (Long-</a:t>
            </a:r>
            <a:r>
              <a:rPr lang="it-IT" dirty="0" err="1"/>
              <a:t>Term</a:t>
            </a:r>
            <a:r>
              <a:rPr lang="it-IT" dirty="0"/>
              <a:t> </a:t>
            </a:r>
            <a:r>
              <a:rPr lang="it-IT" dirty="0" err="1"/>
              <a:t>Evolution</a:t>
            </a:r>
            <a:r>
              <a:rPr lang="it-IT" dirty="0"/>
              <a:t> </a:t>
            </a:r>
            <a:r>
              <a:rPr lang="it-IT" dirty="0" err="1"/>
              <a:t>Vehicular</a:t>
            </a:r>
            <a:r>
              <a:rPr lang="it-IT" dirty="0"/>
              <a:t> to </a:t>
            </a:r>
            <a:r>
              <a:rPr lang="it-IT" dirty="0" err="1"/>
              <a:t>Everything</a:t>
            </a:r>
            <a:r>
              <a:rPr lang="it-IT" dirty="0"/>
              <a:t>), </a:t>
            </a:r>
            <a:r>
              <a:rPr lang="it-IT" dirty="0" err="1"/>
              <a:t>later</a:t>
            </a:r>
            <a:r>
              <a:rPr lang="it-IT" dirty="0"/>
              <a:t> </a:t>
            </a:r>
            <a:r>
              <a:rPr lang="it-IT" dirty="0" err="1"/>
              <a:t>renamed</a:t>
            </a:r>
            <a:r>
              <a:rPr lang="it-IT" dirty="0"/>
              <a:t> </a:t>
            </a:r>
            <a:r>
              <a:rPr lang="it-IT" b="1" dirty="0"/>
              <a:t>C-V2X </a:t>
            </a:r>
            <a:r>
              <a:rPr lang="it-IT" dirty="0"/>
              <a:t>(Cellular </a:t>
            </a:r>
            <a:r>
              <a:rPr lang="it-IT" dirty="0" err="1"/>
              <a:t>Vehicular</a:t>
            </a:r>
            <a:r>
              <a:rPr lang="it-IT" dirty="0"/>
              <a:t> to </a:t>
            </a:r>
            <a:r>
              <a:rPr lang="it-IT" dirty="0" err="1"/>
              <a:t>Everything</a:t>
            </a:r>
            <a:r>
              <a:rPr lang="it-IT" dirty="0"/>
              <a:t>)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The </a:t>
            </a:r>
            <a:r>
              <a:rPr lang="it-IT" sz="1800" dirty="0" err="1"/>
              <a:t>message</a:t>
            </a:r>
            <a:r>
              <a:rPr lang="it-IT" sz="1800" dirty="0"/>
              <a:t> set </a:t>
            </a:r>
            <a:r>
              <a:rPr lang="it-IT" sz="1800" dirty="0" err="1"/>
              <a:t>adopted</a:t>
            </a:r>
            <a:r>
              <a:rPr lang="it-IT" sz="1800" dirty="0"/>
              <a:t> in V2X </a:t>
            </a:r>
            <a:r>
              <a:rPr lang="it-IT" sz="1800" dirty="0" err="1"/>
              <a:t>communications</a:t>
            </a:r>
            <a:r>
              <a:rPr lang="it-IT" sz="1800" dirty="0"/>
              <a:t> </a:t>
            </a:r>
            <a:r>
              <a:rPr lang="it-IT" sz="1800" dirty="0" err="1"/>
              <a:t>comprises</a:t>
            </a:r>
            <a:r>
              <a:rPr lang="it-IT" sz="1800" dirty="0"/>
              <a:t> CAM, DENM, CPM, MAPEM, SPATEM, </a:t>
            </a:r>
            <a:r>
              <a:rPr lang="it-IT" sz="1800" dirty="0" err="1"/>
              <a:t>ext</a:t>
            </a:r>
            <a:r>
              <a:rPr lang="it-IT" sz="1800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941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644718-930E-1747-C42F-34C4F09A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PKI </a:t>
            </a:r>
            <a:r>
              <a:rPr lang="it-IT" dirty="0" err="1"/>
              <a:t>infrastructure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5CDCEE-FB8E-860B-40F0-0BD694A6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2160589"/>
            <a:ext cx="5863003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b="0" i="0" u="none" strike="noStrike" baseline="0" dirty="0">
                <a:latin typeface="+mj-lt"/>
              </a:rPr>
              <a:t>V2X </a:t>
            </a:r>
            <a:r>
              <a:rPr lang="it-IT" b="0" i="0" u="none" strike="noStrike" baseline="0" dirty="0" err="1">
                <a:latin typeface="+mj-lt"/>
              </a:rPr>
              <a:t>technology</a:t>
            </a:r>
            <a:r>
              <a:rPr lang="it-IT" b="0" i="0" u="none" strike="noStrike" baseline="0" dirty="0">
                <a:latin typeface="+mj-lt"/>
              </a:rPr>
              <a:t> </a:t>
            </a:r>
            <a:r>
              <a:rPr lang="it-IT" b="0" i="0" u="none" strike="noStrike" baseline="0" dirty="0" err="1">
                <a:latin typeface="+mj-lt"/>
              </a:rPr>
              <a:t>relies</a:t>
            </a:r>
            <a:r>
              <a:rPr lang="it-IT" b="0" i="0" u="none" strike="noStrike" baseline="0" dirty="0">
                <a:latin typeface="+mj-lt"/>
              </a:rPr>
              <a:t> on </a:t>
            </a:r>
            <a:r>
              <a:rPr lang="it-IT" dirty="0">
                <a:latin typeface="+mj-lt"/>
              </a:rPr>
              <a:t>PKI </a:t>
            </a:r>
            <a:r>
              <a:rPr lang="it-IT" dirty="0" err="1">
                <a:latin typeface="+mj-lt"/>
              </a:rPr>
              <a:t>architecture</a:t>
            </a:r>
            <a:r>
              <a:rPr lang="it-IT" dirty="0">
                <a:latin typeface="+mj-lt"/>
              </a:rPr>
              <a:t>, </a:t>
            </a:r>
            <a:r>
              <a:rPr lang="it-IT" dirty="0" err="1">
                <a:latin typeface="+mj-lt"/>
              </a:rPr>
              <a:t>defined</a:t>
            </a:r>
            <a:r>
              <a:rPr lang="it-IT" dirty="0">
                <a:latin typeface="+mj-lt"/>
              </a:rPr>
              <a:t> in </a:t>
            </a:r>
            <a:r>
              <a:rPr lang="it-IT" sz="1800" dirty="0"/>
              <a:t>ETSI TS 102 940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RCA: </a:t>
            </a:r>
            <a:r>
              <a:rPr lang="it-IT" sz="1800" dirty="0" err="1"/>
              <a:t>issues</a:t>
            </a:r>
            <a:r>
              <a:rPr lang="it-IT" sz="1800" dirty="0"/>
              <a:t>, </a:t>
            </a:r>
            <a:r>
              <a:rPr lang="it-IT" sz="1800" dirty="0" err="1"/>
              <a:t>renews</a:t>
            </a:r>
            <a:r>
              <a:rPr lang="it-IT" sz="1800" dirty="0"/>
              <a:t>, </a:t>
            </a:r>
            <a:r>
              <a:rPr lang="it-IT" sz="1800" dirty="0" err="1"/>
              <a:t>distributes</a:t>
            </a:r>
            <a:r>
              <a:rPr lang="it-IT" sz="1800" dirty="0"/>
              <a:t> and </a:t>
            </a:r>
            <a:r>
              <a:rPr lang="it-IT" sz="1800" dirty="0" err="1"/>
              <a:t>revokes</a:t>
            </a:r>
            <a:r>
              <a:rPr lang="it-IT" sz="1800" dirty="0"/>
              <a:t> certificates for EA and AA.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EA: </a:t>
            </a:r>
            <a:r>
              <a:rPr lang="it-IT" sz="1800" dirty="0" err="1"/>
              <a:t>authenticates</a:t>
            </a:r>
            <a:r>
              <a:rPr lang="it-IT" sz="1800" dirty="0"/>
              <a:t> the ITS-Station and </a:t>
            </a:r>
            <a:r>
              <a:rPr lang="it-IT" sz="1800" dirty="0" err="1"/>
              <a:t>issues</a:t>
            </a:r>
            <a:r>
              <a:rPr lang="it-IT" sz="1800" dirty="0"/>
              <a:t> a </a:t>
            </a:r>
            <a:r>
              <a:rPr lang="it-IT" sz="1800" dirty="0" err="1"/>
              <a:t>proof</a:t>
            </a:r>
            <a:r>
              <a:rPr lang="it-IT" sz="1800" dirty="0"/>
              <a:t> of </a:t>
            </a:r>
            <a:r>
              <a:rPr lang="it-IT" sz="1800" dirty="0" err="1"/>
              <a:t>identity</a:t>
            </a:r>
            <a:r>
              <a:rPr lang="it-IT" sz="1800" dirty="0"/>
              <a:t> (</a:t>
            </a:r>
            <a:r>
              <a:rPr lang="it-IT" sz="1800" dirty="0" err="1"/>
              <a:t>Enrolment</a:t>
            </a:r>
            <a:r>
              <a:rPr lang="it-IT" sz="1800" dirty="0"/>
              <a:t> </a:t>
            </a:r>
            <a:r>
              <a:rPr lang="it-IT" sz="1800" dirty="0" err="1"/>
              <a:t>Credential</a:t>
            </a:r>
            <a:r>
              <a:rPr lang="it-IT" sz="1800" dirty="0"/>
              <a:t>).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ITS-S: </a:t>
            </a:r>
            <a:r>
              <a:rPr lang="it-IT" sz="1800" dirty="0" err="1"/>
              <a:t>uses</a:t>
            </a:r>
            <a:r>
              <a:rPr lang="it-IT" sz="1800" dirty="0"/>
              <a:t> </a:t>
            </a:r>
            <a:r>
              <a:rPr lang="it-IT" sz="1800" dirty="0" err="1"/>
              <a:t>Enrolment</a:t>
            </a:r>
            <a:r>
              <a:rPr lang="it-IT" sz="1800" dirty="0"/>
              <a:t> </a:t>
            </a:r>
            <a:r>
              <a:rPr lang="it-IT" sz="1800" dirty="0" err="1"/>
              <a:t>Credential</a:t>
            </a:r>
            <a:r>
              <a:rPr lang="it-IT" sz="1800" dirty="0"/>
              <a:t> to </a:t>
            </a:r>
            <a:r>
              <a:rPr lang="it-IT" sz="1800" dirty="0" err="1"/>
              <a:t>request</a:t>
            </a:r>
            <a:r>
              <a:rPr lang="it-IT" sz="1800" dirty="0"/>
              <a:t> </a:t>
            </a:r>
            <a:r>
              <a:rPr lang="it-IT" sz="1800" dirty="0" err="1"/>
              <a:t>authZ</a:t>
            </a:r>
            <a:r>
              <a:rPr lang="it-IT" sz="1800" dirty="0"/>
              <a:t> for services from an AA.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AA: </a:t>
            </a:r>
            <a:r>
              <a:rPr lang="it-IT" sz="1800" dirty="0" err="1"/>
              <a:t>grants</a:t>
            </a:r>
            <a:r>
              <a:rPr lang="it-IT" sz="1800" dirty="0"/>
              <a:t> </a:t>
            </a:r>
            <a:r>
              <a:rPr lang="it-IT" sz="1800" dirty="0" err="1"/>
              <a:t>permissions</a:t>
            </a:r>
            <a:r>
              <a:rPr lang="it-IT" sz="1800" dirty="0"/>
              <a:t> to ITS-S </a:t>
            </a:r>
            <a:r>
              <a:rPr lang="it-IT" sz="1800" dirty="0" err="1"/>
              <a:t>through</a:t>
            </a:r>
            <a:r>
              <a:rPr lang="it-IT" sz="1800" dirty="0"/>
              <a:t> AT.</a:t>
            </a:r>
          </a:p>
          <a:p>
            <a:pPr>
              <a:lnSpc>
                <a:spcPct val="90000"/>
              </a:lnSpc>
            </a:pPr>
            <a:r>
              <a:rPr lang="it-IT" sz="1800" dirty="0"/>
              <a:t>AT: c</a:t>
            </a:r>
            <a:r>
              <a:rPr lang="en-US" sz="1800" dirty="0" err="1"/>
              <a:t>ertificates</a:t>
            </a:r>
            <a:r>
              <a:rPr lang="en-US" sz="1800" dirty="0"/>
              <a:t> used to authenticate and authorize the entities for specific actions or communications within the V2X network</a:t>
            </a:r>
            <a:endParaRPr lang="it-IT" sz="1800" dirty="0"/>
          </a:p>
          <a:p>
            <a:endParaRPr lang="it-IT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543138A-1127-532C-B396-9F43841F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714" y="1930400"/>
            <a:ext cx="5276815" cy="360640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1461D1-6CA1-B340-2291-8A8F8F0164B5}"/>
              </a:ext>
            </a:extLst>
          </p:cNvPr>
          <p:cNvSpPr txBox="1"/>
          <p:nvPr/>
        </p:nvSpPr>
        <p:spPr>
          <a:xfrm>
            <a:off x="8064227" y="5673311"/>
            <a:ext cx="3549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1"/>
                </a:solidFill>
              </a:rPr>
              <a:t>Fig.1 - V2X PKI </a:t>
            </a:r>
            <a:r>
              <a:rPr lang="it-IT" sz="1400" dirty="0" err="1">
                <a:solidFill>
                  <a:schemeClr val="accent1"/>
                </a:solidFill>
              </a:rPr>
              <a:t>infrastructure</a:t>
            </a:r>
            <a:endParaRPr lang="it-IT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12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D07C223-37A0-9C13-3A45-17ACA24C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Public-key-</a:t>
            </a:r>
            <a:r>
              <a:rPr lang="it-IT" dirty="0" err="1"/>
              <a:t>based</a:t>
            </a:r>
            <a:r>
              <a:rPr lang="it-IT" dirty="0"/>
              <a:t> systems </a:t>
            </a:r>
            <a:r>
              <a:rPr lang="it-IT" dirty="0" err="1"/>
              <a:t>at</a:t>
            </a:r>
            <a:r>
              <a:rPr lang="it-IT" dirty="0"/>
              <a:t> risk from Quantum </a:t>
            </a:r>
            <a:r>
              <a:rPr lang="it-IT" dirty="0" err="1"/>
              <a:t>attacks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894AF5-C56B-4F23-C7EE-4790E270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For message integrity and </a:t>
            </a:r>
            <a:r>
              <a:rPr lang="en-US" dirty="0" err="1">
                <a:latin typeface="+mj-lt"/>
              </a:rPr>
              <a:t>authN</a:t>
            </a:r>
            <a:r>
              <a:rPr lang="en-US" dirty="0">
                <a:latin typeface="+mj-lt"/>
              </a:rPr>
              <a:t>, the ECDSA (Elliptic Curve Digital Signature Algorithm) is required to generate digital signatures and </a:t>
            </a:r>
            <a:r>
              <a:rPr lang="en-US" dirty="0" err="1">
                <a:latin typeface="+mj-lt"/>
              </a:rPr>
              <a:t>verificate</a:t>
            </a:r>
            <a:r>
              <a:rPr lang="en-US" dirty="0">
                <a:latin typeface="+mj-lt"/>
              </a:rPr>
              <a:t> keys     ETSI TS 103 097.</a:t>
            </a:r>
          </a:p>
          <a:p>
            <a:pPr>
              <a:lnSpc>
                <a:spcPct val="9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j-lt"/>
              </a:rPr>
              <a:t>T</a:t>
            </a:r>
            <a:r>
              <a:rPr lang="en-US" b="0" i="0" u="none" strike="noStrike" baseline="0" dirty="0">
                <a:latin typeface="+mj-lt"/>
              </a:rPr>
              <a:t>he growing capabilities of </a:t>
            </a:r>
            <a:r>
              <a:rPr lang="en-US" b="1" i="0" u="none" strike="noStrike" baseline="0" dirty="0">
                <a:latin typeface="+mj-lt"/>
              </a:rPr>
              <a:t>quantum computers </a:t>
            </a:r>
            <a:r>
              <a:rPr lang="en-US" b="0" i="0" u="none" strike="noStrike" baseline="0" dirty="0">
                <a:latin typeface="+mj-lt"/>
              </a:rPr>
              <a:t>in recent years present serious threats to the security of current computer systems, particularly those based on public-key algorithms. </a:t>
            </a:r>
          </a:p>
          <a:p>
            <a:pPr>
              <a:lnSpc>
                <a:spcPct val="90000"/>
              </a:lnSpc>
            </a:pPr>
            <a:r>
              <a:rPr lang="en-US" b="0" i="0" u="none" strike="noStrike" baseline="0" dirty="0">
                <a:latin typeface="+mj-lt"/>
              </a:rPr>
              <a:t>Since 2012, the National Institute of Standards and Technology (NIST) has been leading a standardization effort to select post-quantum cryptography(PQC)</a:t>
            </a:r>
            <a:endParaRPr lang="en-US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b="0" i="0" u="none" strike="noStrike" baseline="0" dirty="0">
                <a:latin typeface="+mj-lt"/>
              </a:rPr>
              <a:t>Among the signature algorithms advancing to the fourth round of evaluations are </a:t>
            </a:r>
            <a:r>
              <a:rPr lang="en-US" i="0" u="none" strike="noStrike" baseline="0" dirty="0">
                <a:latin typeface="+mj-lt"/>
              </a:rPr>
              <a:t>CRYSTALS-</a:t>
            </a:r>
            <a:r>
              <a:rPr lang="en-US" i="0" u="none" strike="noStrike" baseline="0" dirty="0" err="1">
                <a:latin typeface="+mj-lt"/>
              </a:rPr>
              <a:t>Dilithium</a:t>
            </a:r>
            <a:r>
              <a:rPr lang="en-US" i="0" u="none" strike="noStrike" baseline="0" dirty="0">
                <a:latin typeface="+mj-lt"/>
              </a:rPr>
              <a:t>, Falcon, and SPHINCS+.</a:t>
            </a:r>
            <a:endParaRPr lang="en-US" dirty="0">
              <a:latin typeface="+mj-lt"/>
            </a:endParaRPr>
          </a:p>
          <a:p>
            <a:pPr>
              <a:lnSpc>
                <a:spcPct val="90000"/>
              </a:lnSpc>
            </a:pPr>
            <a:endParaRPr lang="it-IT" dirty="0">
              <a:latin typeface="+mj-lt"/>
            </a:endParaRPr>
          </a:p>
          <a:p>
            <a:endParaRPr lang="it-IT" dirty="0">
              <a:latin typeface="+mj-lt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53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EE69B4C-4237-33E8-57C9-90F20E49C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Thesis </a:t>
            </a:r>
            <a:r>
              <a:rPr lang="it-IT" dirty="0" err="1"/>
              <a:t>purposes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913920-AA98-80E0-CA83-685661DD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none" strike="noStrike" baseline="0" dirty="0">
                <a:latin typeface="+mj-lt"/>
              </a:rPr>
              <a:t>A point of convergence between V2X and Post-</a:t>
            </a:r>
            <a:r>
              <a:rPr lang="it-IT" b="0" i="0" u="none" strike="noStrike" baseline="0" dirty="0">
                <a:latin typeface="+mj-lt"/>
              </a:rPr>
              <a:t>Quantum </a:t>
            </a:r>
            <a:r>
              <a:rPr lang="it-IT" b="0" i="0" u="none" strike="noStrike" baseline="0" dirty="0" err="1">
                <a:latin typeface="+mj-lt"/>
              </a:rPr>
              <a:t>Cryptography</a:t>
            </a:r>
            <a:r>
              <a:rPr lang="it-IT" b="0" i="0" u="none" strike="noStrike" baseline="0" dirty="0">
                <a:latin typeface="+mj-lt"/>
              </a:rPr>
              <a:t>:</a:t>
            </a:r>
            <a:endParaRPr lang="it-IT" dirty="0">
              <a:latin typeface="+mj-lt"/>
            </a:endParaRPr>
          </a:p>
          <a:p>
            <a:endParaRPr lang="it-IT" dirty="0">
              <a:latin typeface="+mj-lt"/>
            </a:endParaRPr>
          </a:p>
          <a:p>
            <a:r>
              <a:rPr lang="en-US" b="0" i="0" u="none" strike="noStrike" baseline="0" dirty="0">
                <a:latin typeface="+mj-lt"/>
              </a:rPr>
              <a:t>Integrating PQC APIs to extend the standard followed for </a:t>
            </a:r>
            <a:r>
              <a:rPr lang="it-IT" b="0" i="0" u="none" strike="noStrike" baseline="0" dirty="0">
                <a:latin typeface="+mj-lt"/>
              </a:rPr>
              <a:t>inter-</a:t>
            </a:r>
            <a:r>
              <a:rPr lang="it-IT" b="0" i="0" u="none" strike="noStrike" baseline="0" dirty="0" err="1">
                <a:latin typeface="+mj-lt"/>
              </a:rPr>
              <a:t>vehicle</a:t>
            </a:r>
            <a:r>
              <a:rPr lang="it-IT" b="0" i="0" u="none" strike="noStrike" baseline="0" dirty="0">
                <a:latin typeface="+mj-lt"/>
              </a:rPr>
              <a:t> </a:t>
            </a:r>
            <a:r>
              <a:rPr lang="it-IT" b="0" i="0" u="none" strike="noStrike" baseline="0" dirty="0" err="1">
                <a:latin typeface="+mj-lt"/>
              </a:rPr>
              <a:t>communication</a:t>
            </a:r>
            <a:r>
              <a:rPr lang="it-IT" b="0" i="0" u="none" strike="noStrike" baseline="0" dirty="0">
                <a:latin typeface="+mj-lt"/>
              </a:rPr>
              <a:t>.</a:t>
            </a:r>
          </a:p>
          <a:p>
            <a:r>
              <a:rPr lang="en-US" b="0" i="0" u="none" strike="noStrike" baseline="0" dirty="0">
                <a:latin typeface="+mj-lt"/>
              </a:rPr>
              <a:t>Extending the structure and fields of the certificates of the entities involved in the V2X PKI infrastructure. </a:t>
            </a:r>
          </a:p>
          <a:p>
            <a:r>
              <a:rPr lang="en-US" b="0" i="0" u="none" strike="noStrike" baseline="0" dirty="0">
                <a:latin typeface="+mj-lt"/>
              </a:rPr>
              <a:t>Sending new non-standard CAM messages, appending the new digital signature, over the network interface.</a:t>
            </a:r>
          </a:p>
          <a:p>
            <a:r>
              <a:rPr lang="en-US" b="0" i="0" u="none" strike="noStrike" baseline="0" dirty="0">
                <a:latin typeface="+mj-lt"/>
              </a:rPr>
              <a:t>Conducting a comparative analysis of message size and signing times between the existing standard method of signing CAM and the method implemented in this thesis.</a:t>
            </a:r>
            <a:endParaRPr lang="it-IT" b="0" i="0" u="none" strike="noStrike" baseline="0" dirty="0">
              <a:latin typeface="+mj-lt"/>
            </a:endParaRPr>
          </a:p>
          <a:p>
            <a:endParaRPr lang="it-IT" dirty="0">
              <a:latin typeface="+mj-lt"/>
            </a:endParaRPr>
          </a:p>
          <a:p>
            <a:endParaRPr lang="it-IT" dirty="0">
              <a:latin typeface="+mj-lt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066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644718-930E-1747-C42F-34C4F09A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Tools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the study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5CDCEE-FB8E-860B-40F0-0BD694A6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4087811"/>
          </a:xfrm>
        </p:spPr>
        <p:txBody>
          <a:bodyPr>
            <a:normAutofit/>
          </a:bodyPr>
          <a:lstStyle/>
          <a:p>
            <a:r>
              <a:rPr lang="it-IT" dirty="0" err="1"/>
              <a:t>Proprietary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:</a:t>
            </a:r>
          </a:p>
          <a:p>
            <a:pPr marL="457200" lvl="1" indent="0">
              <a:buNone/>
            </a:pPr>
            <a:r>
              <a:rPr lang="it-IT" dirty="0"/>
              <a:t>- </a:t>
            </a:r>
            <a:r>
              <a:rPr lang="it-IT" dirty="0" err="1"/>
              <a:t>Cohda</a:t>
            </a:r>
            <a:r>
              <a:rPr lang="it-IT" dirty="0"/>
              <a:t> Wireless Virtual Machines</a:t>
            </a:r>
          </a:p>
          <a:p>
            <a:r>
              <a:rPr lang="it-IT" dirty="0"/>
              <a:t>Open-source </a:t>
            </a:r>
            <a:r>
              <a:rPr lang="it-IT" dirty="0" err="1"/>
              <a:t>solution</a:t>
            </a:r>
            <a:r>
              <a:rPr lang="it-IT" dirty="0"/>
              <a:t>:</a:t>
            </a:r>
          </a:p>
          <a:p>
            <a:pPr marL="0" indent="0">
              <a:buNone/>
            </a:pPr>
            <a:r>
              <a:rPr lang="it-IT" dirty="0"/>
              <a:t>	- Docker container</a:t>
            </a:r>
          </a:p>
          <a:p>
            <a:pPr marL="0" indent="0">
              <a:buNone/>
            </a:pPr>
            <a:r>
              <a:rPr lang="it-IT" dirty="0"/>
              <a:t>	- </a:t>
            </a:r>
            <a:r>
              <a:rPr lang="it-IT" dirty="0" err="1"/>
              <a:t>Wireshark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	- </a:t>
            </a:r>
            <a:r>
              <a:rPr lang="it-IT" dirty="0" err="1"/>
              <a:t>FsMsgGen</a:t>
            </a:r>
            <a:r>
              <a:rPr lang="it-IT" dirty="0"/>
              <a:t> open-source tool</a:t>
            </a:r>
          </a:p>
          <a:p>
            <a:pPr marL="0" indent="0">
              <a:buNone/>
            </a:pPr>
            <a:r>
              <a:rPr lang="it-IT" dirty="0"/>
              <a:t>	- </a:t>
            </a:r>
            <a:r>
              <a:rPr lang="it-IT" dirty="0" err="1"/>
              <a:t>ItsCertGen</a:t>
            </a:r>
            <a:r>
              <a:rPr lang="it-IT" dirty="0"/>
              <a:t> open-source tool</a:t>
            </a:r>
          </a:p>
          <a:p>
            <a:pPr lvl="1"/>
            <a:r>
              <a:rPr lang="it-IT" dirty="0"/>
              <a:t>Libraries </a:t>
            </a:r>
            <a:r>
              <a:rPr lang="it-IT" dirty="0" err="1"/>
              <a:t>involved</a:t>
            </a:r>
            <a:r>
              <a:rPr lang="it-IT" dirty="0"/>
              <a:t>: </a:t>
            </a:r>
            <a:r>
              <a:rPr lang="it-IT" dirty="0" err="1"/>
              <a:t>FitSec</a:t>
            </a:r>
            <a:r>
              <a:rPr lang="it-IT" dirty="0"/>
              <a:t>, PCAP, </a:t>
            </a:r>
            <a:r>
              <a:rPr lang="it-IT" dirty="0" err="1"/>
              <a:t>liboqs</a:t>
            </a:r>
            <a:endParaRPr lang="it-IT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9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644718-930E-1747-C42F-34C4F09A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Generation of V2X-Dilithium certificates and key </a:t>
            </a:r>
            <a:r>
              <a:rPr lang="it-IT" dirty="0" err="1"/>
              <a:t>pairs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5CDCEE-FB8E-860B-40F0-0BD694A6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930400"/>
            <a:ext cx="5869403" cy="4535179"/>
          </a:xfrm>
        </p:spPr>
        <p:txBody>
          <a:bodyPr>
            <a:normAutofit/>
          </a:bodyPr>
          <a:lstStyle/>
          <a:p>
            <a:r>
              <a:rPr lang="it-IT" dirty="0" err="1"/>
              <a:t>ItsCertGen</a:t>
            </a:r>
            <a:r>
              <a:rPr lang="it-IT" dirty="0"/>
              <a:t> tool:</a:t>
            </a:r>
          </a:p>
          <a:p>
            <a:pPr lvl="1"/>
            <a:r>
              <a:rPr lang="it-IT" dirty="0" err="1"/>
              <a:t>Change</a:t>
            </a:r>
            <a:r>
              <a:rPr lang="it-IT" dirty="0"/>
              <a:t> the public </a:t>
            </a:r>
            <a:r>
              <a:rPr lang="it-IT" dirty="0" err="1"/>
              <a:t>verification</a:t>
            </a:r>
            <a:r>
              <a:rPr lang="it-IT" dirty="0"/>
              <a:t> key and signature fields of certificate </a:t>
            </a:r>
            <a:r>
              <a:rPr lang="it-IT" dirty="0" err="1"/>
              <a:t>profiles</a:t>
            </a:r>
            <a:endParaRPr lang="it-IT" dirty="0"/>
          </a:p>
          <a:p>
            <a:pPr lvl="1"/>
            <a:r>
              <a:rPr lang="en-US" dirty="0"/>
              <a:t>Extension of the definitions of ASN.1 module files, generating updated C source code containing structures for </a:t>
            </a:r>
            <a:r>
              <a:rPr lang="en-US" dirty="0" err="1"/>
              <a:t>Dilithium</a:t>
            </a:r>
            <a:r>
              <a:rPr lang="en-US" dirty="0"/>
              <a:t> signatures and key pairs.</a:t>
            </a:r>
          </a:p>
          <a:p>
            <a:pPr lvl="1"/>
            <a:r>
              <a:rPr lang="en-US" dirty="0"/>
              <a:t>Generation of </a:t>
            </a:r>
            <a:r>
              <a:rPr lang="en-US" dirty="0" err="1"/>
              <a:t>Dilithium</a:t>
            </a:r>
            <a:r>
              <a:rPr lang="en-US" dirty="0"/>
              <a:t> verification key pair using </a:t>
            </a:r>
            <a:r>
              <a:rPr lang="it-IT" sz="1800" b="0" i="1" u="none" strike="noStrike" baseline="0" dirty="0">
                <a:latin typeface="LMMono12-Regular"/>
              </a:rPr>
              <a:t>OQS_SIG_dilithium_2_keypair,</a:t>
            </a:r>
            <a:r>
              <a:rPr lang="en-US" sz="1800" b="0" i="1" u="none" strike="noStrike" baseline="0" dirty="0">
                <a:latin typeface="LMMono12-Regular"/>
              </a:rPr>
              <a:t>  a </a:t>
            </a:r>
            <a:r>
              <a:rPr lang="en-US" sz="1800" b="0" i="1" u="none" strike="noStrike" baseline="0" dirty="0" err="1">
                <a:latin typeface="LMMono12-Regular"/>
              </a:rPr>
              <a:t>liboqs</a:t>
            </a:r>
            <a:r>
              <a:rPr lang="en-US" sz="1800" b="0" i="1" u="none" strike="noStrike" baseline="0" dirty="0">
                <a:latin typeface="LMMono12-Regular"/>
              </a:rPr>
              <a:t> </a:t>
            </a:r>
            <a:r>
              <a:rPr lang="en-US" sz="1800" b="0" i="0" u="none" strike="noStrike" baseline="0" dirty="0">
                <a:latin typeface="LMMono12-Regular"/>
              </a:rPr>
              <a:t>API.</a:t>
            </a:r>
          </a:p>
          <a:p>
            <a:pPr lvl="1"/>
            <a:r>
              <a:rPr lang="en-US" dirty="0"/>
              <a:t>Computation of the joint hash of the certificate        ( </a:t>
            </a:r>
            <a:r>
              <a:rPr lang="en-US" dirty="0" err="1"/>
              <a:t>toBeSigned</a:t>
            </a:r>
            <a:r>
              <a:rPr lang="en-US" dirty="0"/>
              <a:t> hash + signer hash)</a:t>
            </a:r>
          </a:p>
          <a:p>
            <a:pPr lvl="1"/>
            <a:r>
              <a:rPr lang="en-US" dirty="0"/>
              <a:t>Computation of </a:t>
            </a:r>
            <a:r>
              <a:rPr lang="en-US" dirty="0" err="1"/>
              <a:t>Dilithium</a:t>
            </a:r>
            <a:r>
              <a:rPr lang="en-US" dirty="0"/>
              <a:t> certificate signature using </a:t>
            </a:r>
            <a:r>
              <a:rPr lang="en-US" i="1" dirty="0"/>
              <a:t>O</a:t>
            </a:r>
            <a:r>
              <a:rPr lang="it-IT" sz="1800" b="0" i="1" u="none" strike="noStrike" baseline="0" dirty="0">
                <a:latin typeface="LMRoman12-Italic"/>
              </a:rPr>
              <a:t>QS_SIG_dilithium_2_sign</a:t>
            </a:r>
            <a:r>
              <a:rPr lang="en-US" sz="1800" b="0" i="1" u="none" strike="noStrike" baseline="0" dirty="0">
                <a:latin typeface="LMRoman12-Italic"/>
              </a:rPr>
              <a:t>, </a:t>
            </a:r>
            <a:r>
              <a:rPr lang="en-US" sz="1800" b="0" u="none" strike="noStrike" baseline="0" dirty="0">
                <a:latin typeface="LMRoman12-Italic"/>
              </a:rPr>
              <a:t>a </a:t>
            </a:r>
            <a:r>
              <a:rPr lang="en-US" sz="1800" b="0" i="1" u="none" strike="noStrike" baseline="0" dirty="0" err="1">
                <a:latin typeface="LMRoman12-Italic"/>
              </a:rPr>
              <a:t>liboqs</a:t>
            </a:r>
            <a:r>
              <a:rPr lang="en-US" sz="1800" b="0" u="none" strike="noStrike" baseline="0" dirty="0">
                <a:latin typeface="LMRoman12-Italic"/>
              </a:rPr>
              <a:t> API.</a:t>
            </a:r>
          </a:p>
          <a:p>
            <a:pPr lvl="1"/>
            <a:r>
              <a:rPr lang="en-US" sz="1800" dirty="0">
                <a:latin typeface="LMRoman12-Italic"/>
              </a:rPr>
              <a:t>Outputs are new certificates and key pairs for RCA, AA, and AT.</a:t>
            </a:r>
            <a:endParaRPr lang="it-IT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329180-1AAD-48DF-B1E9-183B44343B80}"/>
              </a:ext>
            </a:extLst>
          </p:cNvPr>
          <p:cNvSpPr txBox="1"/>
          <p:nvPr/>
        </p:nvSpPr>
        <p:spPr>
          <a:xfrm>
            <a:off x="7202905" y="1270000"/>
            <a:ext cx="4060767" cy="5509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rgbClr val="C00000"/>
                </a:solidFill>
              </a:rPr>
              <a:t>				</a:t>
            </a:r>
            <a:r>
              <a:rPr lang="it-IT" sz="1100" b="1" i="1" dirty="0">
                <a:solidFill>
                  <a:srgbClr val="002060"/>
                </a:solidFill>
              </a:rPr>
              <a:t>&lt;? AT Certificate </a:t>
            </a:r>
            <a:r>
              <a:rPr lang="it-IT" sz="1100" b="1" i="1" dirty="0" err="1">
                <a:solidFill>
                  <a:srgbClr val="002060"/>
                </a:solidFill>
              </a:rPr>
              <a:t>profile</a:t>
            </a:r>
            <a:r>
              <a:rPr lang="it-IT" sz="1100" b="1" i="1" dirty="0">
                <a:solidFill>
                  <a:srgbClr val="002060"/>
                </a:solidFill>
              </a:rPr>
              <a:t> ?&gt;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&lt;EtsiTs103097Certificate&gt;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</a:t>
            </a:r>
            <a:r>
              <a:rPr lang="it-IT" sz="1100" dirty="0" err="1">
                <a:solidFill>
                  <a:srgbClr val="002060"/>
                </a:solidFill>
              </a:rPr>
              <a:t>version</a:t>
            </a:r>
            <a:r>
              <a:rPr lang="it-IT" sz="1100" dirty="0">
                <a:solidFill>
                  <a:srgbClr val="002060"/>
                </a:solidFill>
              </a:rPr>
              <a:t>&gt;3&lt;/</a:t>
            </a:r>
            <a:r>
              <a:rPr lang="it-IT" sz="1100" dirty="0" err="1">
                <a:solidFill>
                  <a:srgbClr val="002060"/>
                </a:solidFill>
              </a:rPr>
              <a:t>version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</a:t>
            </a:r>
            <a:r>
              <a:rPr lang="it-IT" sz="1100" dirty="0" err="1">
                <a:solidFill>
                  <a:srgbClr val="002060"/>
                </a:solidFill>
              </a:rPr>
              <a:t>type</a:t>
            </a:r>
            <a:r>
              <a:rPr lang="it-IT" sz="1100" dirty="0">
                <a:solidFill>
                  <a:srgbClr val="002060"/>
                </a:solidFill>
              </a:rPr>
              <a:t>&gt; &lt;explicit/&gt; &lt;/</a:t>
            </a:r>
            <a:r>
              <a:rPr lang="it-IT" sz="1100" dirty="0" err="1">
                <a:solidFill>
                  <a:srgbClr val="002060"/>
                </a:solidFill>
              </a:rPr>
              <a:t>type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&lt;issuer name="</a:t>
            </a:r>
            <a:r>
              <a:rPr lang="it-IT" sz="1100" dirty="0" err="1">
                <a:solidFill>
                  <a:srgbClr val="002060"/>
                </a:solidFill>
              </a:rPr>
              <a:t>CERT_IUT_A_AA_Dilithium</a:t>
            </a:r>
            <a:r>
              <a:rPr lang="it-IT" sz="1100" dirty="0">
                <a:solidFill>
                  <a:srgbClr val="002060"/>
                </a:solidFill>
              </a:rPr>
              <a:t>"&gt;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&lt;sha256AndDigest/&gt;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&lt;/issuer&gt;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</a:t>
            </a:r>
            <a:r>
              <a:rPr lang="it-IT" sz="1100" dirty="0" err="1">
                <a:solidFill>
                  <a:srgbClr val="002060"/>
                </a:solidFill>
              </a:rPr>
              <a:t>toBeSigned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. . . . 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</a:t>
            </a:r>
            <a:r>
              <a:rPr lang="it-IT" sz="1100" dirty="0" err="1">
                <a:solidFill>
                  <a:srgbClr val="002060"/>
                </a:solidFill>
              </a:rPr>
              <a:t>encryptionKey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</a:t>
            </a:r>
            <a:r>
              <a:rPr lang="it-IT" sz="1100" dirty="0" err="1">
                <a:solidFill>
                  <a:srgbClr val="002060"/>
                </a:solidFill>
              </a:rPr>
              <a:t>supportedSymmAlg</a:t>
            </a:r>
            <a:r>
              <a:rPr lang="it-IT" sz="1100" dirty="0">
                <a:solidFill>
                  <a:srgbClr val="002060"/>
                </a:solidFill>
              </a:rPr>
              <a:t>&gt;	&lt;aes128Ccm/&gt;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&lt;/</a:t>
            </a:r>
            <a:r>
              <a:rPr lang="it-IT" sz="1100" dirty="0" err="1">
                <a:solidFill>
                  <a:srgbClr val="002060"/>
                </a:solidFill>
              </a:rPr>
              <a:t>supportedSymmAlg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</a:t>
            </a:r>
            <a:r>
              <a:rPr lang="it-IT" sz="1100" dirty="0" err="1">
                <a:solidFill>
                  <a:srgbClr val="002060"/>
                </a:solidFill>
              </a:rPr>
              <a:t>publicKey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	&lt;eciesNistP256&gt;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		&lt;compressed-y-0/&gt;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	&lt;/eciesNistP256&gt;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&lt;/</a:t>
            </a:r>
            <a:r>
              <a:rPr lang="it-IT" sz="1100" dirty="0" err="1">
                <a:solidFill>
                  <a:srgbClr val="002060"/>
                </a:solidFill>
              </a:rPr>
              <a:t>publicKey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&lt;/</a:t>
            </a:r>
            <a:r>
              <a:rPr lang="it-IT" sz="1100" dirty="0" err="1">
                <a:solidFill>
                  <a:srgbClr val="002060"/>
                </a:solidFill>
              </a:rPr>
              <a:t>encryptionKey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</a:t>
            </a:r>
            <a:r>
              <a:rPr lang="it-IT" sz="1100" dirty="0" err="1">
                <a:solidFill>
                  <a:srgbClr val="002060"/>
                </a:solidFill>
              </a:rPr>
              <a:t>verifyKeyIndicator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</a:t>
            </a:r>
            <a:r>
              <a:rPr lang="it-IT" sz="1100" dirty="0" err="1">
                <a:solidFill>
                  <a:srgbClr val="002060"/>
                </a:solidFill>
              </a:rPr>
              <a:t>verificationKey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	&lt;</a:t>
            </a:r>
            <a:r>
              <a:rPr lang="it-IT" sz="1100" b="1" dirty="0">
                <a:solidFill>
                  <a:srgbClr val="002060"/>
                </a:solidFill>
              </a:rPr>
              <a:t>dilithium2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		</a:t>
            </a:r>
            <a:r>
              <a:rPr lang="it-IT" sz="1100" b="1" dirty="0">
                <a:solidFill>
                  <a:srgbClr val="002060"/>
                </a:solidFill>
              </a:rPr>
              <a:t>&lt;</a:t>
            </a:r>
            <a:r>
              <a:rPr lang="it-IT" sz="1100" b="1" dirty="0" err="1">
                <a:solidFill>
                  <a:srgbClr val="002060"/>
                </a:solidFill>
              </a:rPr>
              <a:t>publicKey</a:t>
            </a:r>
            <a:r>
              <a:rPr lang="it-IT" sz="1100" b="1" dirty="0">
                <a:solidFill>
                  <a:srgbClr val="002060"/>
                </a:solidFill>
              </a:rPr>
              <a:t>/&gt;</a:t>
            </a:r>
          </a:p>
          <a:p>
            <a:r>
              <a:rPr lang="it-IT" sz="1100" b="1" dirty="0">
                <a:solidFill>
                  <a:srgbClr val="002060"/>
                </a:solidFill>
              </a:rPr>
              <a:t>			&lt;/dilithium2&gt;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&lt;/</a:t>
            </a:r>
            <a:r>
              <a:rPr lang="it-IT" sz="1100" dirty="0" err="1">
                <a:solidFill>
                  <a:srgbClr val="002060"/>
                </a:solidFill>
              </a:rPr>
              <a:t>verificationKey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&lt;/</a:t>
            </a:r>
            <a:r>
              <a:rPr lang="it-IT" sz="1100" dirty="0" err="1">
                <a:solidFill>
                  <a:srgbClr val="002060"/>
                </a:solidFill>
              </a:rPr>
              <a:t>verifyKeyIndicator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&lt;/</a:t>
            </a:r>
            <a:r>
              <a:rPr lang="it-IT" sz="1100" dirty="0" err="1">
                <a:solidFill>
                  <a:srgbClr val="002060"/>
                </a:solidFill>
              </a:rPr>
              <a:t>toBeSigned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&lt;signature&gt;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&lt;</a:t>
            </a:r>
            <a:r>
              <a:rPr lang="it-IT" sz="1100" b="1" dirty="0" err="1">
                <a:solidFill>
                  <a:srgbClr val="002060"/>
                </a:solidFill>
              </a:rPr>
              <a:t>dilithiumSignature</a:t>
            </a:r>
            <a:r>
              <a:rPr lang="it-IT" sz="1100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		</a:t>
            </a:r>
            <a:r>
              <a:rPr lang="it-IT" sz="1100" b="1" dirty="0">
                <a:solidFill>
                  <a:srgbClr val="002060"/>
                </a:solidFill>
              </a:rPr>
              <a:t>&lt;</a:t>
            </a:r>
            <a:r>
              <a:rPr lang="it-IT" sz="1100" b="1" dirty="0" err="1">
                <a:solidFill>
                  <a:srgbClr val="002060"/>
                </a:solidFill>
              </a:rPr>
              <a:t>signatureValue</a:t>
            </a:r>
            <a:r>
              <a:rPr lang="it-IT" sz="1100" b="1" dirty="0">
                <a:solidFill>
                  <a:srgbClr val="002060"/>
                </a:solidFill>
              </a:rPr>
              <a:t>/&gt;</a:t>
            </a:r>
          </a:p>
          <a:p>
            <a:r>
              <a:rPr lang="it-IT" sz="1100" b="1" dirty="0">
                <a:solidFill>
                  <a:srgbClr val="002060"/>
                </a:solidFill>
              </a:rPr>
              <a:t>	&lt;/</a:t>
            </a:r>
            <a:r>
              <a:rPr lang="it-IT" sz="1100" b="1" dirty="0" err="1">
                <a:solidFill>
                  <a:srgbClr val="002060"/>
                </a:solidFill>
              </a:rPr>
              <a:t>dilithiumSignature</a:t>
            </a:r>
            <a:r>
              <a:rPr lang="it-IT" sz="1100" b="1" dirty="0">
                <a:solidFill>
                  <a:srgbClr val="002060"/>
                </a:solidFill>
              </a:rPr>
              <a:t>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&lt;/signature&gt;</a:t>
            </a:r>
          </a:p>
          <a:p>
            <a:r>
              <a:rPr lang="it-IT" sz="1100" dirty="0">
                <a:solidFill>
                  <a:srgbClr val="002060"/>
                </a:solidFill>
              </a:rPr>
              <a:t> &lt;/EtsiTs103097Certificate&gt;</a:t>
            </a:r>
          </a:p>
        </p:txBody>
      </p:sp>
    </p:spTree>
    <p:extLst>
      <p:ext uri="{BB962C8B-B14F-4D97-AF65-F5344CB8AC3E}">
        <p14:creationId xmlns:p14="http://schemas.microsoft.com/office/powerpoint/2010/main" val="405924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C16966-D548-5B8E-8ED9-FC046B93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Non-standard CAM generation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188687-6718-A045-89EA-3C5A202FB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FsMsgGen</a:t>
            </a:r>
            <a:r>
              <a:rPr lang="it-IT" dirty="0"/>
              <a:t> tool:</a:t>
            </a:r>
          </a:p>
          <a:p>
            <a:pPr marL="0" indent="0">
              <a:buNone/>
            </a:pPr>
            <a:endParaRPr lang="it-IT" dirty="0"/>
          </a:p>
          <a:p>
            <a:pPr lvl="1"/>
            <a:r>
              <a:rPr lang="it-IT" sz="1800" dirty="0" err="1"/>
              <a:t>Initialization</a:t>
            </a:r>
            <a:r>
              <a:rPr lang="it-IT" sz="1800" dirty="0"/>
              <a:t> of CAM </a:t>
            </a:r>
            <a:r>
              <a:rPr lang="it-IT" sz="1800" dirty="0" err="1"/>
              <a:t>parameters</a:t>
            </a:r>
            <a:r>
              <a:rPr lang="it-IT" sz="1800" dirty="0"/>
              <a:t>.</a:t>
            </a:r>
          </a:p>
          <a:p>
            <a:pPr lvl="1"/>
            <a:endParaRPr lang="it-IT" sz="1800" dirty="0"/>
          </a:p>
          <a:p>
            <a:pPr lvl="1"/>
            <a:r>
              <a:rPr lang="it-IT" sz="1800" dirty="0"/>
              <a:t>Installation of certificates in </a:t>
            </a:r>
            <a:r>
              <a:rPr lang="it-IT" sz="1800" dirty="0" err="1"/>
              <a:t>fsmsggen</a:t>
            </a:r>
            <a:r>
              <a:rPr lang="it-IT" sz="1800" dirty="0"/>
              <a:t> framework.</a:t>
            </a:r>
          </a:p>
          <a:p>
            <a:pPr lvl="1"/>
            <a:endParaRPr lang="it-IT" sz="1800" dirty="0"/>
          </a:p>
          <a:p>
            <a:pPr lvl="1"/>
            <a:r>
              <a:rPr lang="it-IT" sz="1800" dirty="0" err="1"/>
              <a:t>Signing</a:t>
            </a:r>
            <a:r>
              <a:rPr lang="it-IT" sz="1800" dirty="0"/>
              <a:t> and injection of </a:t>
            </a:r>
            <a:r>
              <a:rPr lang="it-IT" sz="1800" dirty="0" err="1"/>
              <a:t>messages</a:t>
            </a:r>
            <a:r>
              <a:rPr lang="it-IT" sz="1800" dirty="0"/>
              <a:t>.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5697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FCBA5A8-5C72-3105-A0C9-CD70F3FE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/>
              <a:t>Installation and </a:t>
            </a:r>
            <a:r>
              <a:rPr lang="it-IT" dirty="0" err="1"/>
              <a:t>verification</a:t>
            </a:r>
            <a:r>
              <a:rPr lang="it-IT" dirty="0"/>
              <a:t> of new certificates</a:t>
            </a:r>
          </a:p>
        </p:txBody>
      </p:sp>
      <p:sp>
        <p:nvSpPr>
          <p:cNvPr id="6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D0FB83-5C61-B655-DABB-2A5AC094A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r>
              <a:rPr lang="it-IT" dirty="0">
                <a:latin typeface="+mj-lt"/>
              </a:rPr>
              <a:t>Integration of certificates and keys </a:t>
            </a:r>
            <a:r>
              <a:rPr lang="it-IT" dirty="0" err="1">
                <a:latin typeface="+mj-lt"/>
              </a:rPr>
              <a:t>into</a:t>
            </a:r>
            <a:r>
              <a:rPr lang="it-IT" dirty="0">
                <a:latin typeface="+mj-lt"/>
              </a:rPr>
              <a:t> the </a:t>
            </a:r>
            <a:r>
              <a:rPr lang="it-IT" dirty="0" err="1">
                <a:latin typeface="+mj-lt"/>
              </a:rPr>
              <a:t>fsmsggen</a:t>
            </a:r>
            <a:r>
              <a:rPr lang="it-IT" dirty="0">
                <a:latin typeface="+mj-lt"/>
              </a:rPr>
              <a:t> framework</a:t>
            </a:r>
          </a:p>
          <a:p>
            <a:r>
              <a:rPr lang="it-IT" dirty="0">
                <a:latin typeface="+mj-lt"/>
              </a:rPr>
              <a:t>Processing </a:t>
            </a:r>
            <a:r>
              <a:rPr lang="it-IT" dirty="0" err="1">
                <a:latin typeface="+mj-lt"/>
              </a:rPr>
              <a:t>each</a:t>
            </a:r>
            <a:r>
              <a:rPr lang="it-IT" dirty="0">
                <a:latin typeface="+mj-lt"/>
              </a:rPr>
              <a:t> certificate with a </a:t>
            </a:r>
            <a:r>
              <a:rPr lang="it-IT" dirty="0" err="1">
                <a:latin typeface="+mj-lt"/>
              </a:rPr>
              <a:t>designed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function</a:t>
            </a:r>
            <a:r>
              <a:rPr lang="it-IT" dirty="0">
                <a:latin typeface="+mj-lt"/>
              </a:rPr>
              <a:t> for </a:t>
            </a:r>
            <a:r>
              <a:rPr lang="it-IT" dirty="0" err="1">
                <a:latin typeface="+mj-lt"/>
              </a:rPr>
              <a:t>performing</a:t>
            </a:r>
            <a:r>
              <a:rPr lang="it-IT" dirty="0">
                <a:latin typeface="+mj-lt"/>
              </a:rPr>
              <a:t> the </a:t>
            </a:r>
            <a:r>
              <a:rPr lang="it-IT" dirty="0" err="1">
                <a:latin typeface="+mj-lt"/>
              </a:rPr>
              <a:t>supposed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operations</a:t>
            </a:r>
            <a:r>
              <a:rPr lang="it-IT" dirty="0">
                <a:latin typeface="+mj-lt"/>
              </a:rPr>
              <a:t> of a </a:t>
            </a:r>
            <a:r>
              <a:rPr lang="it-IT" dirty="0" err="1">
                <a:latin typeface="+mj-lt"/>
              </a:rPr>
              <a:t>FitSec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method</a:t>
            </a:r>
            <a:r>
              <a:rPr lang="it-IT" dirty="0">
                <a:latin typeface="+mj-lt"/>
              </a:rPr>
              <a:t>, </a:t>
            </a:r>
            <a:r>
              <a:rPr lang="it-IT" dirty="0" err="1">
                <a:latin typeface="+mj-lt"/>
              </a:rPr>
              <a:t>which</a:t>
            </a:r>
            <a:r>
              <a:rPr lang="it-IT" dirty="0">
                <a:latin typeface="+mj-lt"/>
              </a:rPr>
              <a:t> code </a:t>
            </a:r>
            <a:r>
              <a:rPr lang="it-IT" dirty="0" err="1">
                <a:latin typeface="+mj-lt"/>
              </a:rPr>
              <a:t>is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not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available</a:t>
            </a:r>
            <a:r>
              <a:rPr lang="it-IT" dirty="0">
                <a:latin typeface="+mj-lt"/>
              </a:rPr>
              <a:t>:</a:t>
            </a:r>
          </a:p>
          <a:p>
            <a:pPr lvl="1"/>
            <a:r>
              <a:rPr lang="it-IT" dirty="0" err="1">
                <a:latin typeface="+mj-lt"/>
              </a:rPr>
              <a:t>Passing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as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parameters</a:t>
            </a:r>
            <a:r>
              <a:rPr lang="it-IT" dirty="0">
                <a:latin typeface="+mj-lt"/>
              </a:rPr>
              <a:t> the certificate </a:t>
            </a:r>
            <a:r>
              <a:rPr lang="it-IT" dirty="0" err="1">
                <a:latin typeface="+mj-lt"/>
              </a:rPr>
              <a:t>sequence</a:t>
            </a:r>
            <a:r>
              <a:rPr lang="it-IT" dirty="0">
                <a:latin typeface="+mj-lt"/>
              </a:rPr>
              <a:t> of bytes, the keys, and some flags;</a:t>
            </a:r>
          </a:p>
          <a:p>
            <a:pPr lvl="1"/>
            <a:r>
              <a:rPr lang="it-IT" dirty="0" err="1">
                <a:latin typeface="+mj-lt"/>
              </a:rPr>
              <a:t>Parsing</a:t>
            </a:r>
            <a:r>
              <a:rPr lang="it-IT" dirty="0">
                <a:latin typeface="+mj-lt"/>
              </a:rPr>
              <a:t> of </a:t>
            </a:r>
            <a:r>
              <a:rPr lang="it-IT" dirty="0" err="1">
                <a:latin typeface="+mj-lt"/>
              </a:rPr>
              <a:t>this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raw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sequence</a:t>
            </a:r>
            <a:r>
              <a:rPr lang="it-IT" dirty="0">
                <a:latin typeface="+mj-lt"/>
              </a:rPr>
              <a:t> of bytes in a </a:t>
            </a:r>
            <a:r>
              <a:rPr lang="it-IT" dirty="0" err="1">
                <a:latin typeface="+mj-lt"/>
              </a:rPr>
              <a:t>well-designed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structure</a:t>
            </a:r>
            <a:r>
              <a:rPr lang="it-IT" dirty="0">
                <a:latin typeface="+mj-lt"/>
              </a:rPr>
              <a:t>, </a:t>
            </a:r>
            <a:r>
              <a:rPr lang="it-IT" dirty="0" err="1">
                <a:latin typeface="+mj-lt"/>
              </a:rPr>
              <a:t>which</a:t>
            </a:r>
            <a:r>
              <a:rPr lang="it-IT" dirty="0">
                <a:latin typeface="+mj-lt"/>
              </a:rPr>
              <a:t> follows </a:t>
            </a:r>
            <a:r>
              <a:rPr lang="it-IT" dirty="0" err="1">
                <a:latin typeface="+mj-lt"/>
              </a:rPr>
              <a:t>both</a:t>
            </a:r>
            <a:r>
              <a:rPr lang="it-IT" dirty="0">
                <a:latin typeface="+mj-lt"/>
              </a:rPr>
              <a:t> the ETSI TS 103 097 standard and the new </a:t>
            </a:r>
            <a:r>
              <a:rPr lang="it-IT" dirty="0" err="1">
                <a:latin typeface="+mj-lt"/>
              </a:rPr>
              <a:t>implementations</a:t>
            </a:r>
            <a:r>
              <a:rPr lang="it-IT" dirty="0">
                <a:latin typeface="+mj-lt"/>
              </a:rPr>
              <a:t> for </a:t>
            </a:r>
            <a:r>
              <a:rPr lang="it-IT" dirty="0" err="1">
                <a:latin typeface="+mj-lt"/>
              </a:rPr>
              <a:t>verification</a:t>
            </a:r>
            <a:r>
              <a:rPr lang="it-IT" dirty="0">
                <a:latin typeface="+mj-lt"/>
              </a:rPr>
              <a:t> key and signature.</a:t>
            </a:r>
          </a:p>
          <a:p>
            <a:pPr lvl="1"/>
            <a:r>
              <a:rPr lang="en-US" b="0" i="0" u="none" strike="noStrike" baseline="0" dirty="0">
                <a:latin typeface="+mj-lt"/>
              </a:rPr>
              <a:t>verifying the signature of the certificate to guarantee integrity and authenticity,</a:t>
            </a:r>
            <a:r>
              <a:rPr lang="it-IT" b="0" i="0" u="none" strike="noStrike" baseline="0" dirty="0">
                <a:latin typeface="+mj-lt"/>
              </a:rPr>
              <a:t> </a:t>
            </a:r>
            <a:r>
              <a:rPr lang="it-IT" b="0" i="0" u="none" strike="noStrike" baseline="0" dirty="0" err="1">
                <a:latin typeface="+mj-lt"/>
              </a:rPr>
              <a:t>using</a:t>
            </a:r>
            <a:r>
              <a:rPr lang="it-IT" b="0" i="0" u="none" strike="noStrike" baseline="0" dirty="0">
                <a:latin typeface="+mj-lt"/>
              </a:rPr>
              <a:t> </a:t>
            </a:r>
            <a:r>
              <a:rPr lang="it-IT" b="0" i="1" u="none" strike="noStrike" baseline="0" dirty="0">
                <a:latin typeface="+mj-lt"/>
              </a:rPr>
              <a:t>OQS_SIG_dilithium_2_verify, </a:t>
            </a:r>
            <a:r>
              <a:rPr lang="it-IT" b="0" u="none" strike="noStrike" baseline="0" dirty="0">
                <a:latin typeface="+mj-lt"/>
              </a:rPr>
              <a:t>a </a:t>
            </a:r>
            <a:r>
              <a:rPr lang="it-IT" b="0" u="none" strike="noStrike" baseline="0" dirty="0" err="1">
                <a:latin typeface="+mj-lt"/>
              </a:rPr>
              <a:t>liboqs</a:t>
            </a:r>
            <a:r>
              <a:rPr lang="it-IT" b="0" u="none" strike="noStrike" baseline="0" dirty="0">
                <a:latin typeface="+mj-lt"/>
              </a:rPr>
              <a:t> API.</a:t>
            </a:r>
            <a:endParaRPr lang="en-US" b="0" i="1" u="none" strike="noStrike" baseline="0" dirty="0">
              <a:latin typeface="+mj-lt"/>
            </a:endParaRPr>
          </a:p>
        </p:txBody>
      </p:sp>
      <p:sp>
        <p:nvSpPr>
          <p:cNvPr id="7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795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69AAF3-F148-BE27-BA6A-548CF839C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 err="1"/>
              <a:t>Signing</a:t>
            </a:r>
            <a:r>
              <a:rPr lang="it-IT" dirty="0"/>
              <a:t> and injection of </a:t>
            </a:r>
            <a:r>
              <a:rPr lang="it-IT" dirty="0" err="1"/>
              <a:t>message</a:t>
            </a:r>
            <a:endParaRPr lang="it-IT" dirty="0"/>
          </a:p>
        </p:txBody>
      </p:sp>
      <p:sp>
        <p:nvSpPr>
          <p:cNvPr id="6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0D04F1-19B8-49C9-5BF1-7CC9704D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1" y="2160589"/>
            <a:ext cx="5550016" cy="3880773"/>
          </a:xfrm>
        </p:spPr>
        <p:txBody>
          <a:bodyPr>
            <a:normAutofit/>
          </a:bodyPr>
          <a:lstStyle/>
          <a:p>
            <a:r>
              <a:rPr lang="it-IT" dirty="0" err="1">
                <a:latin typeface="+mj-lt"/>
              </a:rPr>
              <a:t>Signing</a:t>
            </a:r>
            <a:r>
              <a:rPr lang="it-IT" dirty="0">
                <a:latin typeface="+mj-lt"/>
              </a:rPr>
              <a:t> the </a:t>
            </a:r>
            <a:r>
              <a:rPr lang="it-IT" dirty="0" err="1">
                <a:latin typeface="+mj-lt"/>
              </a:rPr>
              <a:t>message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means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signing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its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hash</a:t>
            </a:r>
            <a:r>
              <a:rPr lang="it-IT" dirty="0">
                <a:latin typeface="+mj-lt"/>
              </a:rPr>
              <a:t>, in </a:t>
            </a:r>
            <a:r>
              <a:rPr lang="it-IT" dirty="0" err="1">
                <a:latin typeface="+mj-lt"/>
              </a:rPr>
              <a:t>particular</a:t>
            </a:r>
            <a:r>
              <a:rPr lang="it-IT" dirty="0">
                <a:latin typeface="+mj-lt"/>
              </a:rPr>
              <a:t> the </a:t>
            </a:r>
            <a:r>
              <a:rPr lang="it-IT" dirty="0" err="1">
                <a:latin typeface="+mj-lt"/>
              </a:rPr>
              <a:t>hash</a:t>
            </a:r>
            <a:r>
              <a:rPr lang="it-IT" dirty="0">
                <a:latin typeface="+mj-lt"/>
              </a:rPr>
              <a:t> of the </a:t>
            </a:r>
            <a:r>
              <a:rPr lang="it-IT" dirty="0" err="1">
                <a:latin typeface="+mj-lt"/>
              </a:rPr>
              <a:t>unsecured</a:t>
            </a:r>
            <a:r>
              <a:rPr lang="it-IT" dirty="0">
                <a:latin typeface="+mj-lt"/>
              </a:rPr>
              <a:t> data </a:t>
            </a:r>
            <a:r>
              <a:rPr lang="it-IT" dirty="0" err="1">
                <a:latin typeface="+mj-lt"/>
              </a:rPr>
              <a:t>that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comprises</a:t>
            </a:r>
            <a:r>
              <a:rPr lang="it-IT" dirty="0">
                <a:latin typeface="+mj-lt"/>
              </a:rPr>
              <a:t>: </a:t>
            </a:r>
            <a:r>
              <a:rPr lang="it-IT" dirty="0" err="1">
                <a:latin typeface="+mj-lt"/>
              </a:rPr>
              <a:t>CommonHeader</a:t>
            </a:r>
            <a:r>
              <a:rPr lang="it-IT" dirty="0">
                <a:latin typeface="+mj-lt"/>
              </a:rPr>
              <a:t>, TSBP, BTP-B, </a:t>
            </a:r>
            <a:r>
              <a:rPr lang="it-IT" dirty="0" err="1">
                <a:latin typeface="+mj-lt"/>
              </a:rPr>
              <a:t>ItsPduHeader</a:t>
            </a:r>
            <a:r>
              <a:rPr lang="it-IT" dirty="0">
                <a:latin typeface="+mj-lt"/>
              </a:rPr>
              <a:t> and </a:t>
            </a:r>
            <a:r>
              <a:rPr lang="it-IT" dirty="0" err="1">
                <a:latin typeface="+mj-lt"/>
              </a:rPr>
              <a:t>CamPayload</a:t>
            </a:r>
            <a:endParaRPr lang="it-IT" dirty="0">
              <a:latin typeface="+mj-lt"/>
            </a:endParaRPr>
          </a:p>
          <a:p>
            <a:r>
              <a:rPr lang="it-IT" dirty="0">
                <a:latin typeface="+mj-lt"/>
              </a:rPr>
              <a:t>The </a:t>
            </a:r>
            <a:r>
              <a:rPr lang="it-IT" dirty="0" err="1">
                <a:latin typeface="+mj-lt"/>
              </a:rPr>
              <a:t>function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used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is</a:t>
            </a:r>
            <a:r>
              <a:rPr lang="it-IT" dirty="0">
                <a:latin typeface="+mj-lt"/>
              </a:rPr>
              <a:t> </a:t>
            </a:r>
            <a:r>
              <a:rPr lang="it-IT" sz="1800" b="0" i="1" u="none" strike="noStrike" baseline="0" dirty="0">
                <a:latin typeface="+mj-lt"/>
              </a:rPr>
              <a:t>OQS_SIG_dilithium_2_sign.</a:t>
            </a:r>
          </a:p>
          <a:p>
            <a:r>
              <a:rPr lang="it-IT" dirty="0">
                <a:latin typeface="+mj-lt"/>
              </a:rPr>
              <a:t>The </a:t>
            </a:r>
            <a:r>
              <a:rPr lang="it-IT" dirty="0" err="1">
                <a:latin typeface="+mj-lt"/>
              </a:rPr>
              <a:t>CAMs</a:t>
            </a:r>
            <a:r>
              <a:rPr lang="it-IT" dirty="0">
                <a:latin typeface="+mj-lt"/>
              </a:rPr>
              <a:t> are </a:t>
            </a:r>
            <a:r>
              <a:rPr lang="it-IT" dirty="0" err="1">
                <a:latin typeface="+mj-lt"/>
              </a:rPr>
              <a:t>injected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every</a:t>
            </a:r>
            <a:r>
              <a:rPr lang="it-IT" dirty="0">
                <a:latin typeface="+mj-lt"/>
              </a:rPr>
              <a:t> 100ms, and, once </a:t>
            </a:r>
            <a:r>
              <a:rPr lang="it-IT" dirty="0" err="1">
                <a:latin typeface="+mj-lt"/>
              </a:rPr>
              <a:t>each</a:t>
            </a:r>
            <a:r>
              <a:rPr lang="it-IT" dirty="0">
                <a:latin typeface="+mj-lt"/>
              </a:rPr>
              <a:t> second, the </a:t>
            </a:r>
            <a:r>
              <a:rPr lang="it-IT" dirty="0" err="1">
                <a:latin typeface="+mj-lt"/>
              </a:rPr>
              <a:t>message</a:t>
            </a:r>
            <a:r>
              <a:rPr lang="it-IT" dirty="0">
                <a:latin typeface="+mj-lt"/>
              </a:rPr>
              <a:t> must include the </a:t>
            </a:r>
            <a:r>
              <a:rPr lang="it-IT" dirty="0" err="1">
                <a:latin typeface="+mj-lt"/>
              </a:rPr>
              <a:t>whole</a:t>
            </a:r>
            <a:r>
              <a:rPr lang="it-IT" dirty="0">
                <a:latin typeface="+mj-lt"/>
              </a:rPr>
              <a:t> certificate. In the </a:t>
            </a:r>
            <a:r>
              <a:rPr lang="it-IT" dirty="0" err="1">
                <a:latin typeface="+mj-lt"/>
              </a:rPr>
              <a:t>other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messages</a:t>
            </a:r>
            <a:r>
              <a:rPr lang="it-IT" dirty="0">
                <a:latin typeface="+mj-lt"/>
              </a:rPr>
              <a:t>, the certificate digest </a:t>
            </a:r>
            <a:r>
              <a:rPr lang="it-IT" dirty="0" err="1">
                <a:latin typeface="+mj-lt"/>
              </a:rPr>
              <a:t>is</a:t>
            </a:r>
            <a:r>
              <a:rPr lang="it-IT" dirty="0">
                <a:latin typeface="+mj-lt"/>
              </a:rPr>
              <a:t> </a:t>
            </a:r>
            <a:r>
              <a:rPr lang="it-IT" dirty="0" err="1">
                <a:latin typeface="+mj-lt"/>
              </a:rPr>
              <a:t>present</a:t>
            </a:r>
            <a:r>
              <a:rPr lang="it-IT" dirty="0">
                <a:latin typeface="+mj-lt"/>
              </a:rPr>
              <a:t>.</a:t>
            </a:r>
            <a:endParaRPr lang="it-IT" sz="1800" b="0" u="none" strike="noStrike" baseline="0" dirty="0">
              <a:latin typeface="+mj-lt"/>
            </a:endParaRPr>
          </a:p>
        </p:txBody>
      </p:sp>
      <p:sp>
        <p:nvSpPr>
          <p:cNvPr id="7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97E1694-4993-0030-A0F2-1B50C2DC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717" y="2045321"/>
            <a:ext cx="5273156" cy="362083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D1D2DE9-7A16-0B2C-AA1E-28E44327180A}"/>
              </a:ext>
            </a:extLst>
          </p:cNvPr>
          <p:cNvSpPr txBox="1"/>
          <p:nvPr/>
        </p:nvSpPr>
        <p:spPr>
          <a:xfrm>
            <a:off x="6820702" y="5754246"/>
            <a:ext cx="475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1"/>
                </a:solidFill>
              </a:rPr>
              <a:t>Fig.2 – </a:t>
            </a:r>
            <a:r>
              <a:rPr lang="it-IT" sz="1400" dirty="0" err="1">
                <a:solidFill>
                  <a:schemeClr val="accent1"/>
                </a:solidFill>
              </a:rPr>
              <a:t>unsecuredData</a:t>
            </a:r>
            <a:r>
              <a:rPr lang="it-IT" sz="1400" dirty="0">
                <a:solidFill>
                  <a:schemeClr val="accent1"/>
                </a:solidFill>
              </a:rPr>
              <a:t> to </a:t>
            </a:r>
            <a:r>
              <a:rPr lang="it-IT" sz="1400" dirty="0" err="1">
                <a:solidFill>
                  <a:schemeClr val="accent1"/>
                </a:solidFill>
              </a:rPr>
              <a:t>sign</a:t>
            </a:r>
            <a:r>
              <a:rPr lang="it-IT" sz="1400" dirty="0">
                <a:solidFill>
                  <a:schemeClr val="accent1"/>
                </a:solidFill>
              </a:rPr>
              <a:t> in a standard CAM </a:t>
            </a:r>
          </a:p>
        </p:txBody>
      </p:sp>
    </p:spTree>
    <p:extLst>
      <p:ext uri="{BB962C8B-B14F-4D97-AF65-F5344CB8AC3E}">
        <p14:creationId xmlns:p14="http://schemas.microsoft.com/office/powerpoint/2010/main" val="45437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72C6BC-39F8-E494-26E1-16EA009D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 err="1"/>
              <a:t>Observations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379068-177C-90AF-8E19-75B7B738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788055"/>
            <a:ext cx="3414458" cy="3880773"/>
          </a:xfrm>
        </p:spPr>
        <p:txBody>
          <a:bodyPr>
            <a:normAutofit/>
          </a:bodyPr>
          <a:lstStyle/>
          <a:p>
            <a:r>
              <a:rPr lang="it-IT" b="1" dirty="0" err="1"/>
              <a:t>Significant</a:t>
            </a:r>
            <a:r>
              <a:rPr lang="it-IT" b="1" dirty="0"/>
              <a:t> size </a:t>
            </a:r>
            <a:r>
              <a:rPr lang="it-IT" b="1" dirty="0" err="1"/>
              <a:t>difference</a:t>
            </a:r>
            <a:r>
              <a:rPr lang="it-IT" b="1" dirty="0"/>
              <a:t> </a:t>
            </a:r>
            <a:r>
              <a:rPr lang="it-IT" dirty="0" err="1"/>
              <a:t>between</a:t>
            </a:r>
            <a:r>
              <a:rPr lang="it-IT" dirty="0"/>
              <a:t> standard and non-standard </a:t>
            </a:r>
            <a:r>
              <a:rPr lang="it-IT" dirty="0" err="1"/>
              <a:t>messages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messages</a:t>
            </a:r>
            <a:r>
              <a:rPr lang="it-IT" dirty="0"/>
              <a:t> with the </a:t>
            </a:r>
            <a:r>
              <a:rPr lang="it-IT" dirty="0" err="1"/>
              <a:t>Dilithium</a:t>
            </a:r>
            <a:r>
              <a:rPr lang="it-IT" dirty="0"/>
              <a:t> certificate are 17 times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those</a:t>
            </a:r>
            <a:r>
              <a:rPr lang="it-IT" dirty="0"/>
              <a:t> standards.</a:t>
            </a:r>
          </a:p>
          <a:p>
            <a:r>
              <a:rPr lang="it-IT" dirty="0"/>
              <a:t>The </a:t>
            </a:r>
            <a:r>
              <a:rPr lang="it-IT" dirty="0" err="1"/>
              <a:t>messages</a:t>
            </a:r>
            <a:r>
              <a:rPr lang="it-IT" dirty="0"/>
              <a:t> with the digest of </a:t>
            </a:r>
            <a:r>
              <a:rPr lang="it-IT" dirty="0" err="1"/>
              <a:t>Dilithium</a:t>
            </a:r>
            <a:r>
              <a:rPr lang="it-IT" dirty="0"/>
              <a:t> certificate are 13 times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those</a:t>
            </a:r>
            <a:r>
              <a:rPr lang="it-IT" dirty="0"/>
              <a:t> standards.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3B40577-4AB3-F1D0-7294-5414F89A8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865" y="1554827"/>
            <a:ext cx="6286998" cy="178610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A2AFD-B188-EA77-385C-526A7DA1C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865" y="4013200"/>
            <a:ext cx="6286998" cy="182723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E79429B-6E7C-7EB4-8142-E3E88ADE3BD4}"/>
              </a:ext>
            </a:extLst>
          </p:cNvPr>
          <p:cNvSpPr txBox="1"/>
          <p:nvPr/>
        </p:nvSpPr>
        <p:spPr>
          <a:xfrm>
            <a:off x="6970765" y="3389887"/>
            <a:ext cx="3333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1"/>
                </a:solidFill>
              </a:rPr>
              <a:t>Fig.3 - Standard </a:t>
            </a:r>
            <a:r>
              <a:rPr lang="it-IT" sz="1400" dirty="0" err="1">
                <a:solidFill>
                  <a:schemeClr val="accent1"/>
                </a:solidFill>
              </a:rPr>
              <a:t>CAMs</a:t>
            </a:r>
            <a:r>
              <a:rPr lang="it-IT" sz="1400" dirty="0">
                <a:solidFill>
                  <a:schemeClr val="accent1"/>
                </a:solidFill>
              </a:rPr>
              <a:t> </a:t>
            </a:r>
            <a:r>
              <a:rPr lang="it-IT" sz="1400" dirty="0" err="1">
                <a:solidFill>
                  <a:schemeClr val="accent1"/>
                </a:solidFill>
              </a:rPr>
              <a:t>captured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3A5B08-521F-5E7E-8E5B-1732EABA649E}"/>
              </a:ext>
            </a:extLst>
          </p:cNvPr>
          <p:cNvSpPr txBox="1"/>
          <p:nvPr/>
        </p:nvSpPr>
        <p:spPr>
          <a:xfrm>
            <a:off x="6970766" y="5841387"/>
            <a:ext cx="3539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1"/>
                </a:solidFill>
              </a:rPr>
              <a:t>Fig.4 - Non-standard </a:t>
            </a:r>
            <a:r>
              <a:rPr lang="it-IT" sz="1400" dirty="0" err="1">
                <a:solidFill>
                  <a:schemeClr val="accent1"/>
                </a:solidFill>
              </a:rPr>
              <a:t>CAMs</a:t>
            </a:r>
            <a:r>
              <a:rPr lang="it-IT" sz="1400" dirty="0">
                <a:solidFill>
                  <a:schemeClr val="accent1"/>
                </a:solidFill>
              </a:rPr>
              <a:t> </a:t>
            </a:r>
            <a:r>
              <a:rPr lang="it-IT" sz="1400" dirty="0" err="1">
                <a:solidFill>
                  <a:schemeClr val="accent1"/>
                </a:solidFill>
              </a:rPr>
              <a:t>captured</a:t>
            </a:r>
            <a:endParaRPr lang="it-IT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432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2D96C2-D97E-905A-1F3D-FE945BF8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 err="1"/>
              <a:t>Observations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39FE76-4758-AB30-DBEA-AA5EA18D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1798085"/>
            <a:ext cx="3360418" cy="3880773"/>
          </a:xfrm>
        </p:spPr>
        <p:txBody>
          <a:bodyPr>
            <a:normAutofit/>
          </a:bodyPr>
          <a:lstStyle/>
          <a:p>
            <a:r>
              <a:rPr lang="it-IT" b="1" dirty="0"/>
              <a:t>Time of </a:t>
            </a:r>
            <a:r>
              <a:rPr lang="it-IT" b="1" dirty="0" err="1"/>
              <a:t>signing</a:t>
            </a:r>
            <a:r>
              <a:rPr lang="it-IT" b="1" dirty="0"/>
              <a:t> </a:t>
            </a:r>
            <a:r>
              <a:rPr lang="it-IT" b="1" dirty="0" err="1"/>
              <a:t>messages</a:t>
            </a:r>
            <a:r>
              <a:rPr lang="it-IT" b="1" dirty="0"/>
              <a:t>.</a:t>
            </a:r>
          </a:p>
          <a:p>
            <a:pPr algn="l"/>
            <a:r>
              <a:rPr lang="it-IT" sz="1800" b="0" i="0" u="none" strike="noStrike" baseline="0" dirty="0" err="1">
                <a:latin typeface="LMRoman12-Regular"/>
              </a:rPr>
              <a:t>Dilithium</a:t>
            </a:r>
            <a:r>
              <a:rPr lang="it-IT" sz="1800" b="0" i="0" u="none" strike="noStrike" baseline="0" dirty="0">
                <a:latin typeface="LMRoman12-Regular"/>
              </a:rPr>
              <a:t> </a:t>
            </a:r>
            <a:r>
              <a:rPr lang="it-IT" sz="1800" b="0" i="0" u="none" strike="noStrike" baseline="0" dirty="0" err="1">
                <a:latin typeface="LMRoman12-Regular"/>
              </a:rPr>
              <a:t>is</a:t>
            </a:r>
            <a:r>
              <a:rPr lang="it-IT" sz="1800" b="0" i="0" u="none" strike="noStrike" baseline="0" dirty="0">
                <a:latin typeface="LMRoman12-Regular"/>
              </a:rPr>
              <a:t> </a:t>
            </a:r>
            <a:r>
              <a:rPr lang="it-IT" sz="1800" b="0" i="0" u="none" strike="noStrike" baseline="0" dirty="0" err="1">
                <a:latin typeface="LMRoman12-Regular"/>
              </a:rPr>
              <a:t>faster</a:t>
            </a:r>
            <a:r>
              <a:rPr lang="it-IT" sz="1800" b="0" i="0" u="none" strike="noStrike" baseline="0" dirty="0">
                <a:latin typeface="LMRoman12-Regular"/>
              </a:rPr>
              <a:t> </a:t>
            </a:r>
            <a:r>
              <a:rPr lang="en-US" sz="1800" b="0" i="0" u="none" strike="noStrike" baseline="0" dirty="0">
                <a:latin typeface="LMRoman12-Regular"/>
              </a:rPr>
              <a:t>than the PQC competitor algorithms but is slightly slower than the </a:t>
            </a:r>
            <a:r>
              <a:rPr lang="en-US" sz="1800" b="0" i="0" u="none" strike="noStrike" baseline="0" dirty="0" err="1">
                <a:latin typeface="LMRoman12-Regular"/>
              </a:rPr>
              <a:t>Ecdsa</a:t>
            </a:r>
            <a:r>
              <a:rPr lang="en-US" sz="1800" b="0" i="0" u="none" strike="noStrike" baseline="0" dirty="0">
                <a:latin typeface="LMRoman12-Regular"/>
              </a:rPr>
              <a:t> solution. Average times in a sampling window of 2000 measurements are: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LMRoman12-Regular"/>
              </a:rPr>
              <a:t>	</a:t>
            </a:r>
            <a:r>
              <a:rPr lang="en-US" sz="1800" b="0" i="0" u="none" strike="noStrike" baseline="0" dirty="0">
                <a:latin typeface="LMRoman12-Regular"/>
              </a:rPr>
              <a:t>• </a:t>
            </a:r>
            <a:r>
              <a:rPr lang="it-IT" sz="1800" b="0" i="0" u="none" strike="noStrike" baseline="0" dirty="0" err="1">
                <a:latin typeface="LMRoman12-Regular"/>
              </a:rPr>
              <a:t>Ecdsa</a:t>
            </a:r>
            <a:r>
              <a:rPr lang="it-IT" sz="1800" b="0" i="0" u="none" strike="noStrike" baseline="0" dirty="0">
                <a:latin typeface="LMRoman12-Regular"/>
              </a:rPr>
              <a:t>: 0.110 </a:t>
            </a:r>
            <a:r>
              <a:rPr lang="it-IT" sz="1800" b="0" i="0" u="none" strike="noStrike" baseline="0" dirty="0" err="1">
                <a:latin typeface="LMRoman12-Regular"/>
              </a:rPr>
              <a:t>ms</a:t>
            </a:r>
            <a:r>
              <a:rPr lang="it-IT" sz="1800" b="0" i="0" u="none" strike="noStrike" baseline="0" dirty="0">
                <a:latin typeface="LMRoman12-Regular"/>
              </a:rPr>
              <a:t>;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LMRoman12-Regular"/>
              </a:rPr>
              <a:t>	• </a:t>
            </a:r>
            <a:r>
              <a:rPr lang="en-US" sz="1800" b="0" i="0" u="none" strike="noStrike" baseline="0" dirty="0" err="1">
                <a:latin typeface="LMRoman12-Regular"/>
              </a:rPr>
              <a:t>Dilithium</a:t>
            </a:r>
            <a:r>
              <a:rPr lang="en-US" sz="1800" b="0" i="0" u="none" strike="noStrike" baseline="0" dirty="0">
                <a:latin typeface="LMRoman12-Regular"/>
              </a:rPr>
              <a:t>: 0.302 </a:t>
            </a:r>
            <a:r>
              <a:rPr lang="en-US" sz="1800" b="0" i="0" u="none" strike="noStrike" baseline="0" dirty="0" err="1">
                <a:latin typeface="LMRoman12-Regular"/>
              </a:rPr>
              <a:t>ms</a:t>
            </a:r>
            <a:r>
              <a:rPr lang="en-US" sz="1800" b="0" i="0" u="none" strike="noStrike" baseline="0" dirty="0">
                <a:latin typeface="LMRoman12-Regular"/>
              </a:rPr>
              <a:t>;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LMRoman12-Regular"/>
              </a:rPr>
              <a:t>	• Falcon: 	0.584 </a:t>
            </a:r>
            <a:r>
              <a:rPr lang="en-US" sz="1800" b="0" i="0" u="none" strike="noStrike" baseline="0" dirty="0" err="1">
                <a:latin typeface="LMRoman12-Regular"/>
              </a:rPr>
              <a:t>ms</a:t>
            </a:r>
            <a:r>
              <a:rPr lang="en-US" sz="1800" b="0" i="0" u="none" strike="noStrike" baseline="0" dirty="0">
                <a:latin typeface="LMRoman12-Regular"/>
              </a:rPr>
              <a:t>;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LMRoman12-Regular"/>
              </a:rPr>
              <a:t>	• </a:t>
            </a:r>
            <a:r>
              <a:rPr lang="en-US" sz="1800" b="0" i="0" u="none" strike="noStrike" baseline="0" dirty="0" err="1">
                <a:latin typeface="LMRoman12-Regular"/>
              </a:rPr>
              <a:t>Shpincs</a:t>
            </a:r>
            <a:r>
              <a:rPr lang="en-US" sz="1800" b="0" i="0" u="none" strike="noStrike" baseline="0" dirty="0">
                <a:latin typeface="LMRoman12-Regular"/>
              </a:rPr>
              <a:t>: 599.014 </a:t>
            </a:r>
            <a:r>
              <a:rPr lang="en-US" sz="1800" b="0" i="0" u="none" strike="noStrike" baseline="0" dirty="0" err="1">
                <a:latin typeface="LMRoman12-Regular"/>
              </a:rPr>
              <a:t>ms.</a:t>
            </a:r>
            <a:endParaRPr lang="it-IT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16997BE-B959-EF25-0618-4F9EBD28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776" y="1830641"/>
            <a:ext cx="7030717" cy="319671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87C9FED-8B68-51E9-8393-A06FAB5829C6}"/>
              </a:ext>
            </a:extLst>
          </p:cNvPr>
          <p:cNvSpPr txBox="1"/>
          <p:nvPr/>
        </p:nvSpPr>
        <p:spPr>
          <a:xfrm>
            <a:off x="6177280" y="5196015"/>
            <a:ext cx="4897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Benchmark: </a:t>
            </a:r>
            <a:r>
              <a:rPr lang="it-IT" sz="16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LMRoman12-Regular"/>
              </a:rPr>
              <a:t>a PC with Intel(R) Core(TM) i7-8565U CPU</a:t>
            </a:r>
            <a:endParaRPr lang="it-IT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31F8AE-99D7-331F-B05D-47FD808826D5}"/>
              </a:ext>
            </a:extLst>
          </p:cNvPr>
          <p:cNvSpPr txBox="1"/>
          <p:nvPr/>
        </p:nvSpPr>
        <p:spPr>
          <a:xfrm>
            <a:off x="7211056" y="1776511"/>
            <a:ext cx="355815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1"/>
                </a:solidFill>
              </a:rPr>
              <a:t>Fig.5 – Signature times </a:t>
            </a:r>
            <a:r>
              <a:rPr lang="it-IT" sz="1400" dirty="0" err="1">
                <a:solidFill>
                  <a:schemeClr val="accent1"/>
                </a:solidFill>
              </a:rPr>
              <a:t>graph</a:t>
            </a:r>
            <a:endParaRPr lang="it-IT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0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812E4F-5D28-1385-B22C-77F3F668D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1" y="1027471"/>
            <a:ext cx="8596668" cy="1320800"/>
          </a:xfrm>
        </p:spPr>
        <p:txBody>
          <a:bodyPr>
            <a:normAutofit/>
          </a:bodyPr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289686-6E11-63D4-47A1-843BB6C75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1" y="1347019"/>
            <a:ext cx="8764227" cy="5191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rgbClr val="52A4C4"/>
                </a:solidFill>
              </a:rPr>
              <a:t>		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significant</a:t>
            </a:r>
            <a:r>
              <a:rPr lang="it-IT" dirty="0"/>
              <a:t> size </a:t>
            </a:r>
            <a:r>
              <a:rPr lang="it-IT" dirty="0" err="1"/>
              <a:t>difference</a:t>
            </a:r>
            <a:r>
              <a:rPr lang="it-IT" dirty="0"/>
              <a:t> can lead to a </a:t>
            </a:r>
            <a:r>
              <a:rPr lang="en-US" dirty="0"/>
              <a:t>higher load of the communication channel or OBU with larger storage. </a:t>
            </a:r>
          </a:p>
          <a:p>
            <a:endParaRPr lang="en-US" dirty="0"/>
          </a:p>
          <a:p>
            <a:r>
              <a:rPr lang="en-US" dirty="0"/>
              <a:t>The signing times are comparable with the standard version.</a:t>
            </a:r>
          </a:p>
          <a:p>
            <a:pPr marL="0" indent="0">
              <a:buNone/>
            </a:pPr>
            <a:r>
              <a:rPr lang="en-US" dirty="0"/>
              <a:t>		</a:t>
            </a:r>
            <a:endParaRPr lang="it-IT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63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E8557-12E4-7256-4779-D8011279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Future </a:t>
            </a:r>
            <a:r>
              <a:rPr lang="it-IT" dirty="0" err="1"/>
              <a:t>developments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ECBC22-86A8-CCD1-96EB-A2351380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Addressing the larger size of non-standard CAM messages, with operations such as fragmentation, segmentation, caching, compression.</a:t>
            </a:r>
          </a:p>
          <a:p>
            <a:r>
              <a:rPr lang="en-US" dirty="0"/>
              <a:t>Emulating a real-world scenario.</a:t>
            </a:r>
          </a:p>
          <a:p>
            <a:r>
              <a:rPr lang="it-IT" dirty="0" err="1"/>
              <a:t>Implementation</a:t>
            </a:r>
            <a:r>
              <a:rPr lang="it-IT" dirty="0"/>
              <a:t> of the reception </a:t>
            </a:r>
            <a:r>
              <a:rPr lang="it-IT" dirty="0" err="1"/>
              <a:t>phase</a:t>
            </a:r>
            <a:r>
              <a:rPr lang="it-IT" dirty="0"/>
              <a:t>.</a:t>
            </a:r>
          </a:p>
          <a:p>
            <a:r>
              <a:rPr lang="en-US" dirty="0"/>
              <a:t>Studying the network traffic bandwidth. </a:t>
            </a:r>
          </a:p>
          <a:p>
            <a:r>
              <a:rPr lang="en-US" dirty="0"/>
              <a:t>PQC extensions for different types of messages.</a:t>
            </a:r>
          </a:p>
          <a:p>
            <a:r>
              <a:rPr lang="en-US" dirty="0"/>
              <a:t>PQC for encryption and decryption of CAM.</a:t>
            </a:r>
          </a:p>
          <a:p>
            <a:r>
              <a:rPr lang="en-US" dirty="0"/>
              <a:t>Analyzing how the size differs with different PQC algorithms.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733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0BF52-841B-FB75-056E-AB3A4EC45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495" y="2108200"/>
            <a:ext cx="8596668" cy="1320800"/>
          </a:xfrm>
        </p:spPr>
        <p:txBody>
          <a:bodyPr>
            <a:normAutofit/>
          </a:bodyPr>
          <a:lstStyle/>
          <a:p>
            <a:r>
              <a:rPr lang="it-IT" sz="4000" b="1" dirty="0"/>
              <a:t>Thanks for the </a:t>
            </a:r>
            <a:r>
              <a:rPr lang="it-IT" sz="4000" b="1" dirty="0" err="1"/>
              <a:t>attention</a:t>
            </a:r>
            <a:r>
              <a:rPr lang="it-IT" sz="4000" b="1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61D9F-3800-EFF1-D3FB-27E7B7FE7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134" y="3055326"/>
            <a:ext cx="8596668" cy="1516676"/>
          </a:xfrm>
        </p:spPr>
        <p:txBody>
          <a:bodyPr/>
          <a:lstStyle/>
          <a:p>
            <a:r>
              <a:rPr lang="it-IT" dirty="0"/>
              <a:t>email: </a:t>
            </a:r>
            <a:r>
              <a:rPr lang="it-IT" dirty="0">
                <a:solidFill>
                  <a:srgbClr val="52A4C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m.pedone2000@gmail.com</a:t>
            </a:r>
            <a:endParaRPr lang="it-IT" dirty="0">
              <a:solidFill>
                <a:srgbClr val="52A4C4"/>
              </a:solidFill>
            </a:endParaRPr>
          </a:p>
          <a:p>
            <a:r>
              <a:rPr lang="it-IT" dirty="0"/>
              <a:t>Linkedin: </a:t>
            </a:r>
            <a:r>
              <a:rPr lang="it-IT" dirty="0">
                <a:solidFill>
                  <a:srgbClr val="52A4C4"/>
                </a:solidFill>
              </a:rPr>
              <a:t>linkedin.com/in/</a:t>
            </a:r>
            <a:r>
              <a:rPr lang="it-IT" dirty="0" err="1">
                <a:solidFill>
                  <a:srgbClr val="52A4C4"/>
                </a:solidFill>
              </a:rPr>
              <a:t>matteo</a:t>
            </a:r>
            <a:r>
              <a:rPr lang="it-IT" dirty="0">
                <a:solidFill>
                  <a:srgbClr val="52A4C4"/>
                </a:solidFill>
              </a:rPr>
              <a:t>-pedone</a:t>
            </a:r>
          </a:p>
          <a:p>
            <a:r>
              <a:rPr lang="it-IT" dirty="0"/>
              <a:t>GitHub: </a:t>
            </a:r>
            <a:r>
              <a:rPr lang="it-IT" dirty="0" err="1">
                <a:solidFill>
                  <a:srgbClr val="52A4C4"/>
                </a:solidFill>
              </a:rPr>
              <a:t>PedoneMatteo</a:t>
            </a:r>
            <a:r>
              <a:rPr lang="it-IT" dirty="0">
                <a:solidFill>
                  <a:srgbClr val="52A4C4"/>
                </a:solidFill>
              </a:rPr>
              <a:t>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4249427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Blu verd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6308</TotalTime>
  <Words>1263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3" baseType="lpstr">
      <vt:lpstr>Arial</vt:lpstr>
      <vt:lpstr>LMMono12-Regular</vt:lpstr>
      <vt:lpstr>LMRoman12-Italic</vt:lpstr>
      <vt:lpstr>LMRoman12-Regular</vt:lpstr>
      <vt:lpstr>open sans</vt:lpstr>
      <vt:lpstr>Trebuchet MS</vt:lpstr>
      <vt:lpstr>Wingdings 3</vt:lpstr>
      <vt:lpstr>Sfaccettatura</vt:lpstr>
      <vt:lpstr>Implementation of  Non-Standard Digital Signature Method in V2X Environments</vt:lpstr>
      <vt:lpstr>V2X communication</vt:lpstr>
      <vt:lpstr>PKI infrastructure</vt:lpstr>
      <vt:lpstr>Public-key-based systems at risk from Quantum attacks</vt:lpstr>
      <vt:lpstr>Thesis purposes</vt:lpstr>
      <vt:lpstr>Tools used during the study</vt:lpstr>
      <vt:lpstr>Generation of V2X-Dilithium certificates and key pairs</vt:lpstr>
      <vt:lpstr>Non-standard CAM generation</vt:lpstr>
      <vt:lpstr>Installation and verification of new certificates</vt:lpstr>
      <vt:lpstr>Signing and injection of message</vt:lpstr>
      <vt:lpstr>Observations</vt:lpstr>
      <vt:lpstr>Observations</vt:lpstr>
      <vt:lpstr>Conclusions</vt:lpstr>
      <vt:lpstr>Future developments</vt:lpstr>
      <vt:lpstr>Thanks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Pedone  Matteo</dc:creator>
  <cp:lastModifiedBy>Pedone  Matteo</cp:lastModifiedBy>
  <cp:revision>15</cp:revision>
  <dcterms:created xsi:type="dcterms:W3CDTF">2024-10-03T15:32:39Z</dcterms:created>
  <dcterms:modified xsi:type="dcterms:W3CDTF">2024-10-10T10:57:25Z</dcterms:modified>
</cp:coreProperties>
</file>